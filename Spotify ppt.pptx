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C10B2C-1256-4A5E-85B9-E851EEED908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36C149D-F664-4498-93FE-2B5EEB11C39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Objective: </a:t>
          </a:r>
        </a:p>
        <a:p>
          <a:pPr>
            <a:lnSpc>
              <a:spcPct val="100000"/>
            </a:lnSpc>
          </a:pPr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Predict whether a song's popularity score exceeds 64 (i.e., popularity &gt;= 65) based on song features.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59D6BB-9BDF-47E1-A6D3-3CB12E89C9C9}" type="parTrans" cxnId="{D4C54D79-7481-495B-827A-82D2BFB9BECE}">
      <dgm:prSet/>
      <dgm:spPr/>
      <dgm:t>
        <a:bodyPr/>
        <a:lstStyle/>
        <a:p>
          <a:endParaRPr lang="en-US"/>
        </a:p>
      </dgm:t>
    </dgm:pt>
    <dgm:pt modelId="{8CFE3409-2750-4057-A8DA-762CF1E2CEDC}" type="sibTrans" cxnId="{D4C54D79-7481-495B-827A-82D2BFB9BECE}">
      <dgm:prSet/>
      <dgm:spPr/>
      <dgm:t>
        <a:bodyPr/>
        <a:lstStyle/>
        <a:p>
          <a:endParaRPr lang="en-US"/>
        </a:p>
      </dgm:t>
    </dgm:pt>
    <dgm:pt modelId="{32D5F5A9-0EA2-4E98-BF13-9A2BB0FF024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Dataset: </a:t>
          </a:r>
        </a:p>
        <a:p>
          <a:pPr>
            <a:lnSpc>
              <a:spcPct val="100000"/>
            </a:lnSpc>
          </a:pPr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Spotify song attributes like danceability, tempo, loudness, </a:t>
          </a:r>
          <a:r>
            <a:rPr lang="en-US" sz="1600" b="0" i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speechiness</a:t>
          </a:r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br>
            <a:rPr lang="en-US" sz="1400" b="0" i="0" dirty="0"/>
          </a:br>
          <a:endParaRPr lang="en-US" sz="1400" dirty="0"/>
        </a:p>
      </dgm:t>
    </dgm:pt>
    <dgm:pt modelId="{A6EA66B2-19C3-4F6D-BB67-7A57B87ACDE5}" type="parTrans" cxnId="{B24BC828-2EBF-4431-89A1-74DA978AEA66}">
      <dgm:prSet/>
      <dgm:spPr/>
      <dgm:t>
        <a:bodyPr/>
        <a:lstStyle/>
        <a:p>
          <a:endParaRPr lang="en-US"/>
        </a:p>
      </dgm:t>
    </dgm:pt>
    <dgm:pt modelId="{0E2A94B1-26FE-4722-A1D8-60636411B0A4}" type="sibTrans" cxnId="{B24BC828-2EBF-4431-89A1-74DA978AEA66}">
      <dgm:prSet/>
      <dgm:spPr/>
      <dgm:t>
        <a:bodyPr/>
        <a:lstStyle/>
        <a:p>
          <a:endParaRPr lang="en-US"/>
        </a:p>
      </dgm:t>
    </dgm:pt>
    <dgm:pt modelId="{F029F884-73E1-4CE1-BBE7-C4553C716A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Target Variable: </a:t>
          </a:r>
        </a:p>
        <a:p>
          <a:pPr>
            <a:lnSpc>
              <a:spcPct val="100000"/>
            </a:lnSpc>
          </a:pPr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Binary classification → Popular (1) vs Not Popular (0).</a:t>
          </a:r>
          <a:b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5CF6DC-94A0-4106-97CC-E1FE550B48FC}" type="parTrans" cxnId="{29DC14F2-EA80-4C55-A8F9-DC88268DE889}">
      <dgm:prSet/>
      <dgm:spPr/>
      <dgm:t>
        <a:bodyPr/>
        <a:lstStyle/>
        <a:p>
          <a:endParaRPr lang="en-US"/>
        </a:p>
      </dgm:t>
    </dgm:pt>
    <dgm:pt modelId="{D47B3903-6BD7-4656-BD05-85B3BC420FD6}" type="sibTrans" cxnId="{29DC14F2-EA80-4C55-A8F9-DC88268DE889}">
      <dgm:prSet/>
      <dgm:spPr/>
      <dgm:t>
        <a:bodyPr/>
        <a:lstStyle/>
        <a:p>
          <a:endParaRPr lang="en-US"/>
        </a:p>
      </dgm:t>
    </dgm:pt>
    <dgm:pt modelId="{AC7C4EAC-E709-48B6-A3C4-CDEDD12AE7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Approach:</a:t>
          </a:r>
        </a:p>
        <a:p>
          <a:pPr>
            <a:lnSpc>
              <a:spcPct val="100000"/>
            </a:lnSpc>
          </a:pPr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1. Develop and compare three models:</a:t>
          </a:r>
        </a:p>
        <a:p>
          <a:pPr>
            <a:lnSpc>
              <a:spcPct val="100000"/>
            </a:lnSpc>
          </a:pPr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 KNN, Decision Tree, Logistic Regression.</a:t>
          </a:r>
          <a:br>
            <a:rPr lang="en-US" sz="1600" b="1" i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5AF01B-09E8-4D6A-A8E1-27E200AA0C90}" type="parTrans" cxnId="{BE6F6359-D499-4894-990D-229168F59E9C}">
      <dgm:prSet/>
      <dgm:spPr/>
      <dgm:t>
        <a:bodyPr/>
        <a:lstStyle/>
        <a:p>
          <a:endParaRPr lang="en-US"/>
        </a:p>
      </dgm:t>
    </dgm:pt>
    <dgm:pt modelId="{8F4850F2-5F44-489F-9D32-3FB88A4A93B2}" type="sibTrans" cxnId="{BE6F6359-D499-4894-990D-229168F59E9C}">
      <dgm:prSet/>
      <dgm:spPr/>
      <dgm:t>
        <a:bodyPr/>
        <a:lstStyle/>
        <a:p>
          <a:endParaRPr lang="en-US"/>
        </a:p>
      </dgm:t>
    </dgm:pt>
    <dgm:pt modelId="{DB2467CB-D6F7-4A89-871A-49872FB7671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2. Choose the best model based on accuracy and cross-validation if needed.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880AC9-1A19-4554-92C1-101C8A4E02A7}" type="parTrans" cxnId="{F7809B29-9BD7-4426-BEF2-42E3F06FF847}">
      <dgm:prSet/>
      <dgm:spPr/>
      <dgm:t>
        <a:bodyPr/>
        <a:lstStyle/>
        <a:p>
          <a:endParaRPr lang="en-US"/>
        </a:p>
      </dgm:t>
    </dgm:pt>
    <dgm:pt modelId="{8E1F79DA-B4D7-4DD3-B890-6EA8AB751F91}" type="sibTrans" cxnId="{F7809B29-9BD7-4426-BEF2-42E3F06FF847}">
      <dgm:prSet/>
      <dgm:spPr/>
      <dgm:t>
        <a:bodyPr/>
        <a:lstStyle/>
        <a:p>
          <a:endParaRPr lang="en-US"/>
        </a:p>
      </dgm:t>
    </dgm:pt>
    <dgm:pt modelId="{D9B53025-8A2D-4FEE-A946-5C92FCCA717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3. Provide managerial insights for promoting more engaging songs. 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AC0CDC-5EA7-4163-ACFE-A1D38619582E}" type="parTrans" cxnId="{4F077D01-7E07-4D2D-B772-04D0D82B8735}">
      <dgm:prSet/>
      <dgm:spPr/>
      <dgm:t>
        <a:bodyPr/>
        <a:lstStyle/>
        <a:p>
          <a:endParaRPr lang="en-US"/>
        </a:p>
      </dgm:t>
    </dgm:pt>
    <dgm:pt modelId="{A78CB574-F4F6-47AA-A195-78FFEFBD5508}" type="sibTrans" cxnId="{4F077D01-7E07-4D2D-B772-04D0D82B8735}">
      <dgm:prSet/>
      <dgm:spPr/>
      <dgm:t>
        <a:bodyPr/>
        <a:lstStyle/>
        <a:p>
          <a:endParaRPr lang="en-US"/>
        </a:p>
      </dgm:t>
    </dgm:pt>
    <dgm:pt modelId="{01A452C5-7D63-4152-B019-1B53300F9732}" type="pres">
      <dgm:prSet presAssocID="{56C10B2C-1256-4A5E-85B9-E851EEED908F}" presName="root" presStyleCnt="0">
        <dgm:presLayoutVars>
          <dgm:dir/>
          <dgm:resizeHandles val="exact"/>
        </dgm:presLayoutVars>
      </dgm:prSet>
      <dgm:spPr/>
    </dgm:pt>
    <dgm:pt modelId="{F246F8B3-9B45-4C6D-96CD-18D0544BD4AF}" type="pres">
      <dgm:prSet presAssocID="{136C149D-F664-4498-93FE-2B5EEB11C39D}" presName="compNode" presStyleCnt="0"/>
      <dgm:spPr/>
    </dgm:pt>
    <dgm:pt modelId="{98CC286B-D5C1-40C9-BE56-8109A6268FFD}" type="pres">
      <dgm:prSet presAssocID="{136C149D-F664-4498-93FE-2B5EEB11C39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A6792995-4129-42E6-831F-457CDD04D569}" type="pres">
      <dgm:prSet presAssocID="{136C149D-F664-4498-93FE-2B5EEB11C39D}" presName="spaceRect" presStyleCnt="0"/>
      <dgm:spPr/>
    </dgm:pt>
    <dgm:pt modelId="{01AB228E-96F6-41D6-BF95-3EC106AD3CBB}" type="pres">
      <dgm:prSet presAssocID="{136C149D-F664-4498-93FE-2B5EEB11C39D}" presName="textRect" presStyleLbl="revTx" presStyleIdx="0" presStyleCnt="6">
        <dgm:presLayoutVars>
          <dgm:chMax val="1"/>
          <dgm:chPref val="1"/>
        </dgm:presLayoutVars>
      </dgm:prSet>
      <dgm:spPr/>
    </dgm:pt>
    <dgm:pt modelId="{4E4710A7-0403-4F82-A85A-BA1EB264A912}" type="pres">
      <dgm:prSet presAssocID="{8CFE3409-2750-4057-A8DA-762CF1E2CEDC}" presName="sibTrans" presStyleCnt="0"/>
      <dgm:spPr/>
    </dgm:pt>
    <dgm:pt modelId="{30F39868-897F-4A0D-8741-90CAB81CF583}" type="pres">
      <dgm:prSet presAssocID="{32D5F5A9-0EA2-4E98-BF13-9A2BB0FF0248}" presName="compNode" presStyleCnt="0"/>
      <dgm:spPr/>
    </dgm:pt>
    <dgm:pt modelId="{103EC66D-19CA-4FE5-BAB8-12F755268F49}" type="pres">
      <dgm:prSet presAssocID="{32D5F5A9-0EA2-4E98-BF13-9A2BB0FF024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eble clef"/>
        </a:ext>
      </dgm:extLst>
    </dgm:pt>
    <dgm:pt modelId="{A4D17C5D-A452-4633-9291-BC5A8141F29D}" type="pres">
      <dgm:prSet presAssocID="{32D5F5A9-0EA2-4E98-BF13-9A2BB0FF0248}" presName="spaceRect" presStyleCnt="0"/>
      <dgm:spPr/>
    </dgm:pt>
    <dgm:pt modelId="{880D2C95-9A6E-413B-A23D-A5A81AE2E95F}" type="pres">
      <dgm:prSet presAssocID="{32D5F5A9-0EA2-4E98-BF13-9A2BB0FF0248}" presName="textRect" presStyleLbl="revTx" presStyleIdx="1" presStyleCnt="6">
        <dgm:presLayoutVars>
          <dgm:chMax val="1"/>
          <dgm:chPref val="1"/>
        </dgm:presLayoutVars>
      </dgm:prSet>
      <dgm:spPr/>
    </dgm:pt>
    <dgm:pt modelId="{EE47D2F3-06BE-468A-AD6A-F4D8DECDDF5F}" type="pres">
      <dgm:prSet presAssocID="{0E2A94B1-26FE-4722-A1D8-60636411B0A4}" presName="sibTrans" presStyleCnt="0"/>
      <dgm:spPr/>
    </dgm:pt>
    <dgm:pt modelId="{1A83E514-E766-4086-8CA5-30790EB119BD}" type="pres">
      <dgm:prSet presAssocID="{F029F884-73E1-4CE1-BBE7-C4553C716A90}" presName="compNode" presStyleCnt="0"/>
      <dgm:spPr/>
    </dgm:pt>
    <dgm:pt modelId="{8A98AD7B-B30C-4417-ADF7-F03D3343B1F4}" type="pres">
      <dgm:prSet presAssocID="{F029F884-73E1-4CE1-BBE7-C4553C716A9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6E1E1B0-1A73-4563-9468-C29497C36CD9}" type="pres">
      <dgm:prSet presAssocID="{F029F884-73E1-4CE1-BBE7-C4553C716A90}" presName="spaceRect" presStyleCnt="0"/>
      <dgm:spPr/>
    </dgm:pt>
    <dgm:pt modelId="{2A42E5A5-D80F-476B-BD83-DB889CC9C38B}" type="pres">
      <dgm:prSet presAssocID="{F029F884-73E1-4CE1-BBE7-C4553C716A90}" presName="textRect" presStyleLbl="revTx" presStyleIdx="2" presStyleCnt="6">
        <dgm:presLayoutVars>
          <dgm:chMax val="1"/>
          <dgm:chPref val="1"/>
        </dgm:presLayoutVars>
      </dgm:prSet>
      <dgm:spPr/>
    </dgm:pt>
    <dgm:pt modelId="{A6D5C52E-CE3C-42B3-A42C-FA26E03DE115}" type="pres">
      <dgm:prSet presAssocID="{D47B3903-6BD7-4656-BD05-85B3BC420FD6}" presName="sibTrans" presStyleCnt="0"/>
      <dgm:spPr/>
    </dgm:pt>
    <dgm:pt modelId="{3354E40A-0E98-4BE4-B486-BF46D8B62A2D}" type="pres">
      <dgm:prSet presAssocID="{AC7C4EAC-E709-48B6-A3C4-CDEDD12AE72B}" presName="compNode" presStyleCnt="0"/>
      <dgm:spPr/>
    </dgm:pt>
    <dgm:pt modelId="{F50CC110-BD05-4A29-8818-C9BF7A433021}" type="pres">
      <dgm:prSet presAssocID="{AC7C4EAC-E709-48B6-A3C4-CDEDD12AE72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9853B1F6-A80D-4D7F-97DD-BEEC8EBD0DD7}" type="pres">
      <dgm:prSet presAssocID="{AC7C4EAC-E709-48B6-A3C4-CDEDD12AE72B}" presName="spaceRect" presStyleCnt="0"/>
      <dgm:spPr/>
    </dgm:pt>
    <dgm:pt modelId="{BC7E1283-CAD0-4D07-A689-A3913A8C7E35}" type="pres">
      <dgm:prSet presAssocID="{AC7C4EAC-E709-48B6-A3C4-CDEDD12AE72B}" presName="textRect" presStyleLbl="revTx" presStyleIdx="3" presStyleCnt="6">
        <dgm:presLayoutVars>
          <dgm:chMax val="1"/>
          <dgm:chPref val="1"/>
        </dgm:presLayoutVars>
      </dgm:prSet>
      <dgm:spPr/>
    </dgm:pt>
    <dgm:pt modelId="{3C060CEA-A1FC-4AEA-8319-5F716BFDECCA}" type="pres">
      <dgm:prSet presAssocID="{8F4850F2-5F44-489F-9D32-3FB88A4A93B2}" presName="sibTrans" presStyleCnt="0"/>
      <dgm:spPr/>
    </dgm:pt>
    <dgm:pt modelId="{270D1101-FC4D-42F7-AA2C-1B35C72E924F}" type="pres">
      <dgm:prSet presAssocID="{DB2467CB-D6F7-4A89-871A-49872FB7671E}" presName="compNode" presStyleCnt="0"/>
      <dgm:spPr/>
    </dgm:pt>
    <dgm:pt modelId="{2DE794F3-9287-4CDF-B901-E87C2DE6E560}" type="pres">
      <dgm:prSet presAssocID="{DB2467CB-D6F7-4A89-871A-49872FB7671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7AF3B7D7-B35D-4AD8-AB0F-F64A8687B92B}" type="pres">
      <dgm:prSet presAssocID="{DB2467CB-D6F7-4A89-871A-49872FB7671E}" presName="spaceRect" presStyleCnt="0"/>
      <dgm:spPr/>
    </dgm:pt>
    <dgm:pt modelId="{38D35076-8A86-4663-9505-5E669469D4A5}" type="pres">
      <dgm:prSet presAssocID="{DB2467CB-D6F7-4A89-871A-49872FB7671E}" presName="textRect" presStyleLbl="revTx" presStyleIdx="4" presStyleCnt="6">
        <dgm:presLayoutVars>
          <dgm:chMax val="1"/>
          <dgm:chPref val="1"/>
        </dgm:presLayoutVars>
      </dgm:prSet>
      <dgm:spPr/>
    </dgm:pt>
    <dgm:pt modelId="{5DFB4CDA-A83C-479D-A529-C00C39450171}" type="pres">
      <dgm:prSet presAssocID="{8E1F79DA-B4D7-4DD3-B890-6EA8AB751F91}" presName="sibTrans" presStyleCnt="0"/>
      <dgm:spPr/>
    </dgm:pt>
    <dgm:pt modelId="{10EA4494-CB64-46EB-A2F2-1C91E35B4A13}" type="pres">
      <dgm:prSet presAssocID="{D9B53025-8A2D-4FEE-A946-5C92FCCA717F}" presName="compNode" presStyleCnt="0"/>
      <dgm:spPr/>
    </dgm:pt>
    <dgm:pt modelId="{B1C2B749-B0E7-45CF-83F8-FBE1664CC5F1}" type="pres">
      <dgm:prSet presAssocID="{D9B53025-8A2D-4FEE-A946-5C92FCCA717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cing"/>
        </a:ext>
      </dgm:extLst>
    </dgm:pt>
    <dgm:pt modelId="{BB35589F-B23F-4E86-B274-9B0035EF8DC1}" type="pres">
      <dgm:prSet presAssocID="{D9B53025-8A2D-4FEE-A946-5C92FCCA717F}" presName="spaceRect" presStyleCnt="0"/>
      <dgm:spPr/>
    </dgm:pt>
    <dgm:pt modelId="{E4B61FB2-5ED6-486F-8A6D-6CAFEDB869D7}" type="pres">
      <dgm:prSet presAssocID="{D9B53025-8A2D-4FEE-A946-5C92FCCA717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F077D01-7E07-4D2D-B772-04D0D82B8735}" srcId="{56C10B2C-1256-4A5E-85B9-E851EEED908F}" destId="{D9B53025-8A2D-4FEE-A946-5C92FCCA717F}" srcOrd="5" destOrd="0" parTransId="{A3AC0CDC-5EA7-4163-ACFE-A1D38619582E}" sibTransId="{A78CB574-F4F6-47AA-A195-78FFEFBD5508}"/>
    <dgm:cxn modelId="{58837B24-E325-4D57-88C9-AD799C6F7CEC}" type="presOf" srcId="{AC7C4EAC-E709-48B6-A3C4-CDEDD12AE72B}" destId="{BC7E1283-CAD0-4D07-A689-A3913A8C7E35}" srcOrd="0" destOrd="0" presId="urn:microsoft.com/office/officeart/2018/2/layout/IconLabelList"/>
    <dgm:cxn modelId="{B24BC828-2EBF-4431-89A1-74DA978AEA66}" srcId="{56C10B2C-1256-4A5E-85B9-E851EEED908F}" destId="{32D5F5A9-0EA2-4E98-BF13-9A2BB0FF0248}" srcOrd="1" destOrd="0" parTransId="{A6EA66B2-19C3-4F6D-BB67-7A57B87ACDE5}" sibTransId="{0E2A94B1-26FE-4722-A1D8-60636411B0A4}"/>
    <dgm:cxn modelId="{F7809B29-9BD7-4426-BEF2-42E3F06FF847}" srcId="{56C10B2C-1256-4A5E-85B9-E851EEED908F}" destId="{DB2467CB-D6F7-4A89-871A-49872FB7671E}" srcOrd="4" destOrd="0" parTransId="{6A880AC9-1A19-4554-92C1-101C8A4E02A7}" sibTransId="{8E1F79DA-B4D7-4DD3-B890-6EA8AB751F91}"/>
    <dgm:cxn modelId="{34856145-13D9-404E-A8B6-90FF012E303B}" type="presOf" srcId="{D9B53025-8A2D-4FEE-A946-5C92FCCA717F}" destId="{E4B61FB2-5ED6-486F-8A6D-6CAFEDB869D7}" srcOrd="0" destOrd="0" presId="urn:microsoft.com/office/officeart/2018/2/layout/IconLabelList"/>
    <dgm:cxn modelId="{394B4345-676B-48CA-9146-1EC71C597DDC}" type="presOf" srcId="{136C149D-F664-4498-93FE-2B5EEB11C39D}" destId="{01AB228E-96F6-41D6-BF95-3EC106AD3CBB}" srcOrd="0" destOrd="0" presId="urn:microsoft.com/office/officeart/2018/2/layout/IconLabelList"/>
    <dgm:cxn modelId="{BE6F6359-D499-4894-990D-229168F59E9C}" srcId="{56C10B2C-1256-4A5E-85B9-E851EEED908F}" destId="{AC7C4EAC-E709-48B6-A3C4-CDEDD12AE72B}" srcOrd="3" destOrd="0" parTransId="{115AF01B-09E8-4D6A-A8E1-27E200AA0C90}" sibTransId="{8F4850F2-5F44-489F-9D32-3FB88A4A93B2}"/>
    <dgm:cxn modelId="{D4C54D79-7481-495B-827A-82D2BFB9BECE}" srcId="{56C10B2C-1256-4A5E-85B9-E851EEED908F}" destId="{136C149D-F664-4498-93FE-2B5EEB11C39D}" srcOrd="0" destOrd="0" parTransId="{FF59D6BB-9BDF-47E1-A6D3-3CB12E89C9C9}" sibTransId="{8CFE3409-2750-4057-A8DA-762CF1E2CEDC}"/>
    <dgm:cxn modelId="{00143CA7-4F90-4774-B71C-A4A1BCA98B5A}" type="presOf" srcId="{F029F884-73E1-4CE1-BBE7-C4553C716A90}" destId="{2A42E5A5-D80F-476B-BD83-DB889CC9C38B}" srcOrd="0" destOrd="0" presId="urn:microsoft.com/office/officeart/2018/2/layout/IconLabelList"/>
    <dgm:cxn modelId="{96CC84B3-5521-4D49-987C-39D2C8AEC7FC}" type="presOf" srcId="{DB2467CB-D6F7-4A89-871A-49872FB7671E}" destId="{38D35076-8A86-4663-9505-5E669469D4A5}" srcOrd="0" destOrd="0" presId="urn:microsoft.com/office/officeart/2018/2/layout/IconLabelList"/>
    <dgm:cxn modelId="{F7F4B9C6-5AC3-4CB9-AFFB-B5CE928BEAEA}" type="presOf" srcId="{32D5F5A9-0EA2-4E98-BF13-9A2BB0FF0248}" destId="{880D2C95-9A6E-413B-A23D-A5A81AE2E95F}" srcOrd="0" destOrd="0" presId="urn:microsoft.com/office/officeart/2018/2/layout/IconLabelList"/>
    <dgm:cxn modelId="{7CB477DC-04EE-4ADB-96BA-A910ACADD541}" type="presOf" srcId="{56C10B2C-1256-4A5E-85B9-E851EEED908F}" destId="{01A452C5-7D63-4152-B019-1B53300F9732}" srcOrd="0" destOrd="0" presId="urn:microsoft.com/office/officeart/2018/2/layout/IconLabelList"/>
    <dgm:cxn modelId="{29DC14F2-EA80-4C55-A8F9-DC88268DE889}" srcId="{56C10B2C-1256-4A5E-85B9-E851EEED908F}" destId="{F029F884-73E1-4CE1-BBE7-C4553C716A90}" srcOrd="2" destOrd="0" parTransId="{BA5CF6DC-94A0-4106-97CC-E1FE550B48FC}" sibTransId="{D47B3903-6BD7-4656-BD05-85B3BC420FD6}"/>
    <dgm:cxn modelId="{E5930894-4C56-4510-810A-70F9DACC4A42}" type="presParOf" srcId="{01A452C5-7D63-4152-B019-1B53300F9732}" destId="{F246F8B3-9B45-4C6D-96CD-18D0544BD4AF}" srcOrd="0" destOrd="0" presId="urn:microsoft.com/office/officeart/2018/2/layout/IconLabelList"/>
    <dgm:cxn modelId="{69500B46-39E0-447E-A238-9FE9100B7FAD}" type="presParOf" srcId="{F246F8B3-9B45-4C6D-96CD-18D0544BD4AF}" destId="{98CC286B-D5C1-40C9-BE56-8109A6268FFD}" srcOrd="0" destOrd="0" presId="urn:microsoft.com/office/officeart/2018/2/layout/IconLabelList"/>
    <dgm:cxn modelId="{7A6EE387-0DCB-4FC8-9EE1-16FE398AA163}" type="presParOf" srcId="{F246F8B3-9B45-4C6D-96CD-18D0544BD4AF}" destId="{A6792995-4129-42E6-831F-457CDD04D569}" srcOrd="1" destOrd="0" presId="urn:microsoft.com/office/officeart/2018/2/layout/IconLabelList"/>
    <dgm:cxn modelId="{4F343321-BD96-4402-AC7B-FE6FBD1BC332}" type="presParOf" srcId="{F246F8B3-9B45-4C6D-96CD-18D0544BD4AF}" destId="{01AB228E-96F6-41D6-BF95-3EC106AD3CBB}" srcOrd="2" destOrd="0" presId="urn:microsoft.com/office/officeart/2018/2/layout/IconLabelList"/>
    <dgm:cxn modelId="{DB44E8E4-A130-46BA-89CF-A2855C5CD688}" type="presParOf" srcId="{01A452C5-7D63-4152-B019-1B53300F9732}" destId="{4E4710A7-0403-4F82-A85A-BA1EB264A912}" srcOrd="1" destOrd="0" presId="urn:microsoft.com/office/officeart/2018/2/layout/IconLabelList"/>
    <dgm:cxn modelId="{B7471052-E885-4C6B-8D1B-F0A6810B26E1}" type="presParOf" srcId="{01A452C5-7D63-4152-B019-1B53300F9732}" destId="{30F39868-897F-4A0D-8741-90CAB81CF583}" srcOrd="2" destOrd="0" presId="urn:microsoft.com/office/officeart/2018/2/layout/IconLabelList"/>
    <dgm:cxn modelId="{67C971C3-A120-46F5-8BFA-EAF0D67FA071}" type="presParOf" srcId="{30F39868-897F-4A0D-8741-90CAB81CF583}" destId="{103EC66D-19CA-4FE5-BAB8-12F755268F49}" srcOrd="0" destOrd="0" presId="urn:microsoft.com/office/officeart/2018/2/layout/IconLabelList"/>
    <dgm:cxn modelId="{63BFE659-A014-43C9-B9FB-931259DD8BFA}" type="presParOf" srcId="{30F39868-897F-4A0D-8741-90CAB81CF583}" destId="{A4D17C5D-A452-4633-9291-BC5A8141F29D}" srcOrd="1" destOrd="0" presId="urn:microsoft.com/office/officeart/2018/2/layout/IconLabelList"/>
    <dgm:cxn modelId="{C0457760-890A-440D-8048-CF47F6D0CF08}" type="presParOf" srcId="{30F39868-897F-4A0D-8741-90CAB81CF583}" destId="{880D2C95-9A6E-413B-A23D-A5A81AE2E95F}" srcOrd="2" destOrd="0" presId="urn:microsoft.com/office/officeart/2018/2/layout/IconLabelList"/>
    <dgm:cxn modelId="{11E36F95-2F26-4AB5-B8C6-8990EBCD10D4}" type="presParOf" srcId="{01A452C5-7D63-4152-B019-1B53300F9732}" destId="{EE47D2F3-06BE-468A-AD6A-F4D8DECDDF5F}" srcOrd="3" destOrd="0" presId="urn:microsoft.com/office/officeart/2018/2/layout/IconLabelList"/>
    <dgm:cxn modelId="{4B08C847-4BD3-409A-95DD-16591729F4B6}" type="presParOf" srcId="{01A452C5-7D63-4152-B019-1B53300F9732}" destId="{1A83E514-E766-4086-8CA5-30790EB119BD}" srcOrd="4" destOrd="0" presId="urn:microsoft.com/office/officeart/2018/2/layout/IconLabelList"/>
    <dgm:cxn modelId="{B6BB7402-F122-4B59-B5FE-7564A3B7C0E8}" type="presParOf" srcId="{1A83E514-E766-4086-8CA5-30790EB119BD}" destId="{8A98AD7B-B30C-4417-ADF7-F03D3343B1F4}" srcOrd="0" destOrd="0" presId="urn:microsoft.com/office/officeart/2018/2/layout/IconLabelList"/>
    <dgm:cxn modelId="{91076B12-081E-4AB5-87D0-3FF95E607052}" type="presParOf" srcId="{1A83E514-E766-4086-8CA5-30790EB119BD}" destId="{06E1E1B0-1A73-4563-9468-C29497C36CD9}" srcOrd="1" destOrd="0" presId="urn:microsoft.com/office/officeart/2018/2/layout/IconLabelList"/>
    <dgm:cxn modelId="{F34BEC33-8E27-4FE9-8627-9AEC626629A4}" type="presParOf" srcId="{1A83E514-E766-4086-8CA5-30790EB119BD}" destId="{2A42E5A5-D80F-476B-BD83-DB889CC9C38B}" srcOrd="2" destOrd="0" presId="urn:microsoft.com/office/officeart/2018/2/layout/IconLabelList"/>
    <dgm:cxn modelId="{D289FA4C-7376-4C36-8F9D-AFD8A974A930}" type="presParOf" srcId="{01A452C5-7D63-4152-B019-1B53300F9732}" destId="{A6D5C52E-CE3C-42B3-A42C-FA26E03DE115}" srcOrd="5" destOrd="0" presId="urn:microsoft.com/office/officeart/2018/2/layout/IconLabelList"/>
    <dgm:cxn modelId="{A15DF12B-6F36-46D7-A0A6-B02651985EEE}" type="presParOf" srcId="{01A452C5-7D63-4152-B019-1B53300F9732}" destId="{3354E40A-0E98-4BE4-B486-BF46D8B62A2D}" srcOrd="6" destOrd="0" presId="urn:microsoft.com/office/officeart/2018/2/layout/IconLabelList"/>
    <dgm:cxn modelId="{78E18506-7673-46D2-A0FA-F05EB2429F43}" type="presParOf" srcId="{3354E40A-0E98-4BE4-B486-BF46D8B62A2D}" destId="{F50CC110-BD05-4A29-8818-C9BF7A433021}" srcOrd="0" destOrd="0" presId="urn:microsoft.com/office/officeart/2018/2/layout/IconLabelList"/>
    <dgm:cxn modelId="{E50846C0-50F8-498F-BF0C-F6637646DC0B}" type="presParOf" srcId="{3354E40A-0E98-4BE4-B486-BF46D8B62A2D}" destId="{9853B1F6-A80D-4D7F-97DD-BEEC8EBD0DD7}" srcOrd="1" destOrd="0" presId="urn:microsoft.com/office/officeart/2018/2/layout/IconLabelList"/>
    <dgm:cxn modelId="{640A4FED-24FB-4FFB-B132-66716AEA1D89}" type="presParOf" srcId="{3354E40A-0E98-4BE4-B486-BF46D8B62A2D}" destId="{BC7E1283-CAD0-4D07-A689-A3913A8C7E35}" srcOrd="2" destOrd="0" presId="urn:microsoft.com/office/officeart/2018/2/layout/IconLabelList"/>
    <dgm:cxn modelId="{2F7BDB3E-A64D-4664-9326-516FDFA43128}" type="presParOf" srcId="{01A452C5-7D63-4152-B019-1B53300F9732}" destId="{3C060CEA-A1FC-4AEA-8319-5F716BFDECCA}" srcOrd="7" destOrd="0" presId="urn:microsoft.com/office/officeart/2018/2/layout/IconLabelList"/>
    <dgm:cxn modelId="{D2A5509F-E1E1-4360-96F0-DBED6E3CB912}" type="presParOf" srcId="{01A452C5-7D63-4152-B019-1B53300F9732}" destId="{270D1101-FC4D-42F7-AA2C-1B35C72E924F}" srcOrd="8" destOrd="0" presId="urn:microsoft.com/office/officeart/2018/2/layout/IconLabelList"/>
    <dgm:cxn modelId="{DE8FD9B6-558F-4953-9A13-8B438276B7E6}" type="presParOf" srcId="{270D1101-FC4D-42F7-AA2C-1B35C72E924F}" destId="{2DE794F3-9287-4CDF-B901-E87C2DE6E560}" srcOrd="0" destOrd="0" presId="urn:microsoft.com/office/officeart/2018/2/layout/IconLabelList"/>
    <dgm:cxn modelId="{99DF8700-1DC5-47C2-82B8-1C839A54820D}" type="presParOf" srcId="{270D1101-FC4D-42F7-AA2C-1B35C72E924F}" destId="{7AF3B7D7-B35D-4AD8-AB0F-F64A8687B92B}" srcOrd="1" destOrd="0" presId="urn:microsoft.com/office/officeart/2018/2/layout/IconLabelList"/>
    <dgm:cxn modelId="{B57EA567-869D-492C-86D5-6AB57D565B8F}" type="presParOf" srcId="{270D1101-FC4D-42F7-AA2C-1B35C72E924F}" destId="{38D35076-8A86-4663-9505-5E669469D4A5}" srcOrd="2" destOrd="0" presId="urn:microsoft.com/office/officeart/2018/2/layout/IconLabelList"/>
    <dgm:cxn modelId="{9E8BD329-3BD0-40AB-9461-6A9D3763EEEE}" type="presParOf" srcId="{01A452C5-7D63-4152-B019-1B53300F9732}" destId="{5DFB4CDA-A83C-479D-A529-C00C39450171}" srcOrd="9" destOrd="0" presId="urn:microsoft.com/office/officeart/2018/2/layout/IconLabelList"/>
    <dgm:cxn modelId="{F03ED792-03FA-444C-A5C2-B2BA36BA9949}" type="presParOf" srcId="{01A452C5-7D63-4152-B019-1B53300F9732}" destId="{10EA4494-CB64-46EB-A2F2-1C91E35B4A13}" srcOrd="10" destOrd="0" presId="urn:microsoft.com/office/officeart/2018/2/layout/IconLabelList"/>
    <dgm:cxn modelId="{DD8420D5-A3DC-4B43-86E9-998EE8E6AD87}" type="presParOf" srcId="{10EA4494-CB64-46EB-A2F2-1C91E35B4A13}" destId="{B1C2B749-B0E7-45CF-83F8-FBE1664CC5F1}" srcOrd="0" destOrd="0" presId="urn:microsoft.com/office/officeart/2018/2/layout/IconLabelList"/>
    <dgm:cxn modelId="{CA8487FF-9322-4768-A3B4-CC6CB49ECCA2}" type="presParOf" srcId="{10EA4494-CB64-46EB-A2F2-1C91E35B4A13}" destId="{BB35589F-B23F-4E86-B274-9B0035EF8DC1}" srcOrd="1" destOrd="0" presId="urn:microsoft.com/office/officeart/2018/2/layout/IconLabelList"/>
    <dgm:cxn modelId="{93AF6060-0619-42F0-8699-DCF30CE78489}" type="presParOf" srcId="{10EA4494-CB64-46EB-A2F2-1C91E35B4A13}" destId="{E4B61FB2-5ED6-486F-8A6D-6CAFEDB869D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7515BF-C6D7-49E8-868D-382B8920015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C82810B-EC48-4078-9A61-BE4FF967D748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i="0" dirty="0">
              <a:solidFill>
                <a:schemeClr val="bg1"/>
              </a:solidFill>
            </a:rPr>
            <a:t>Model Comparison</a:t>
          </a:r>
          <a:r>
            <a:rPr lang="en-US" b="0" i="0" dirty="0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3336ADA7-A042-4FF6-B557-8ABCB14D3CE6}" type="parTrans" cxnId="{31437BB3-53D4-4491-A29F-E481AE7E736A}">
      <dgm:prSet/>
      <dgm:spPr/>
      <dgm:t>
        <a:bodyPr/>
        <a:lstStyle/>
        <a:p>
          <a:endParaRPr lang="en-US"/>
        </a:p>
      </dgm:t>
    </dgm:pt>
    <dgm:pt modelId="{EF5C6AA5-F42A-45FC-B750-576CBCB83499}" type="sibTrans" cxnId="{31437BB3-53D4-4491-A29F-E481AE7E736A}">
      <dgm:prSet/>
      <dgm:spPr/>
      <dgm:t>
        <a:bodyPr/>
        <a:lstStyle/>
        <a:p>
          <a:endParaRPr lang="en-US"/>
        </a:p>
      </dgm:t>
    </dgm:pt>
    <dgm:pt modelId="{6831EA5A-D3EA-42D2-BF19-D9AE3A3C4A7A}">
      <dgm:prSet/>
      <dgm:spPr/>
      <dgm:t>
        <a:bodyPr/>
        <a:lstStyle/>
        <a:p>
          <a:r>
            <a:rPr lang="en-US" b="1" i="0"/>
            <a:t>KNN</a:t>
          </a:r>
          <a:r>
            <a:rPr lang="en-US" b="0" i="0"/>
            <a:t>: Moderate accuracy (~58%), sensitive to noisy features.</a:t>
          </a:r>
          <a:endParaRPr lang="en-US"/>
        </a:p>
      </dgm:t>
    </dgm:pt>
    <dgm:pt modelId="{FBBA4C58-B88F-4049-A712-A6923A1E3F5F}" type="parTrans" cxnId="{A9A1F8AE-F377-4C4D-A40F-C849BEBCB3D2}">
      <dgm:prSet/>
      <dgm:spPr/>
      <dgm:t>
        <a:bodyPr/>
        <a:lstStyle/>
        <a:p>
          <a:endParaRPr lang="en-US"/>
        </a:p>
      </dgm:t>
    </dgm:pt>
    <dgm:pt modelId="{7BD1FE87-67CC-4A15-825E-5757BEAB0286}" type="sibTrans" cxnId="{A9A1F8AE-F377-4C4D-A40F-C849BEBCB3D2}">
      <dgm:prSet/>
      <dgm:spPr/>
      <dgm:t>
        <a:bodyPr/>
        <a:lstStyle/>
        <a:p>
          <a:endParaRPr lang="en-US"/>
        </a:p>
      </dgm:t>
    </dgm:pt>
    <dgm:pt modelId="{101DB93D-8480-4C38-9871-5A9D2898ACEB}">
      <dgm:prSet/>
      <dgm:spPr/>
      <dgm:t>
        <a:bodyPr/>
        <a:lstStyle/>
        <a:p>
          <a:r>
            <a:rPr lang="en-US" b="1" i="0" dirty="0"/>
            <a:t>Decision Tree</a:t>
          </a:r>
          <a:r>
            <a:rPr lang="en-US" b="0" i="0" dirty="0"/>
            <a:t>: Overfit, poor generalization (Test Accuracy ~56%).</a:t>
          </a:r>
          <a:endParaRPr lang="en-US" dirty="0"/>
        </a:p>
      </dgm:t>
    </dgm:pt>
    <dgm:pt modelId="{912BDA52-C142-467B-A2F5-CF0CD0F1077F}" type="parTrans" cxnId="{A2E19CFB-F0D1-4F56-9E87-D3A17E6DEE79}">
      <dgm:prSet/>
      <dgm:spPr/>
      <dgm:t>
        <a:bodyPr/>
        <a:lstStyle/>
        <a:p>
          <a:endParaRPr lang="en-US"/>
        </a:p>
      </dgm:t>
    </dgm:pt>
    <dgm:pt modelId="{9036D912-B45E-490E-ADA9-6B0F94689DE4}" type="sibTrans" cxnId="{A2E19CFB-F0D1-4F56-9E87-D3A17E6DEE79}">
      <dgm:prSet/>
      <dgm:spPr/>
      <dgm:t>
        <a:bodyPr/>
        <a:lstStyle/>
        <a:p>
          <a:endParaRPr lang="en-US"/>
        </a:p>
      </dgm:t>
    </dgm:pt>
    <dgm:pt modelId="{6BB21FE0-0B5F-48F2-94AA-C143E3EE56C3}">
      <dgm:prSet/>
      <dgm:spPr/>
      <dgm:t>
        <a:bodyPr/>
        <a:lstStyle/>
        <a:p>
          <a:r>
            <a:rPr lang="en-US" b="1" i="0" dirty="0"/>
            <a:t>Logistic Regression</a:t>
          </a:r>
          <a:r>
            <a:rPr lang="en-US" b="0" i="0" dirty="0"/>
            <a:t>: Best generalization (Test Accuracy ~58%-59%), stable across folds. </a:t>
          </a:r>
          <a:endParaRPr lang="en-US" dirty="0"/>
        </a:p>
      </dgm:t>
    </dgm:pt>
    <dgm:pt modelId="{3B2B7E89-3275-4DC3-A97A-288A4DAFCC7F}" type="parTrans" cxnId="{5AEBDDAE-D28B-4953-A862-7AD7C026964C}">
      <dgm:prSet/>
      <dgm:spPr/>
      <dgm:t>
        <a:bodyPr/>
        <a:lstStyle/>
        <a:p>
          <a:endParaRPr lang="en-US"/>
        </a:p>
      </dgm:t>
    </dgm:pt>
    <dgm:pt modelId="{D2064298-BFE3-4DF3-A3B2-55B37D28B332}" type="sibTrans" cxnId="{5AEBDDAE-D28B-4953-A862-7AD7C026964C}">
      <dgm:prSet/>
      <dgm:spPr/>
      <dgm:t>
        <a:bodyPr/>
        <a:lstStyle/>
        <a:p>
          <a:endParaRPr lang="en-US"/>
        </a:p>
      </dgm:t>
    </dgm:pt>
    <dgm:pt modelId="{05C5FD85-C1E5-427D-8C55-7E1AF50A321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i="0" dirty="0">
              <a:solidFill>
                <a:schemeClr val="bg1"/>
              </a:solidFill>
            </a:rPr>
            <a:t>Final Choice</a:t>
          </a:r>
          <a:r>
            <a:rPr lang="en-US" b="0" i="0" dirty="0">
              <a:solidFill>
                <a:schemeClr val="bg1"/>
              </a:solidFill>
            </a:rPr>
            <a:t>:</a:t>
          </a:r>
          <a:br>
            <a:rPr lang="en-US" b="0" i="0" dirty="0">
              <a:solidFill>
                <a:schemeClr val="bg1"/>
              </a:solidFill>
            </a:rPr>
          </a:br>
          <a:r>
            <a:rPr lang="en-US" b="1" i="0" dirty="0">
              <a:solidFill>
                <a:schemeClr val="bg1"/>
              </a:solidFill>
            </a:rPr>
            <a:t>Logistic Regression</a:t>
          </a:r>
          <a:r>
            <a:rPr lang="en-US" b="0" i="0" dirty="0">
              <a:solidFill>
                <a:schemeClr val="bg1"/>
              </a:solidFill>
            </a:rPr>
            <a:t> selected because:</a:t>
          </a:r>
          <a:endParaRPr lang="en-US" dirty="0">
            <a:solidFill>
              <a:schemeClr val="bg1"/>
            </a:solidFill>
          </a:endParaRPr>
        </a:p>
      </dgm:t>
    </dgm:pt>
    <dgm:pt modelId="{8CCD45A0-D7EF-4613-8507-06BB7D05B89A}" type="parTrans" cxnId="{C3DE9B25-E9F4-4751-8228-4B231C11CF1E}">
      <dgm:prSet/>
      <dgm:spPr/>
      <dgm:t>
        <a:bodyPr/>
        <a:lstStyle/>
        <a:p>
          <a:endParaRPr lang="en-US"/>
        </a:p>
      </dgm:t>
    </dgm:pt>
    <dgm:pt modelId="{9D0148D1-C613-4133-9E71-B31EDD7FBEA9}" type="sibTrans" cxnId="{C3DE9B25-E9F4-4751-8228-4B231C11CF1E}">
      <dgm:prSet/>
      <dgm:spPr/>
      <dgm:t>
        <a:bodyPr/>
        <a:lstStyle/>
        <a:p>
          <a:endParaRPr lang="en-US"/>
        </a:p>
      </dgm:t>
    </dgm:pt>
    <dgm:pt modelId="{CC69D65D-45BB-4600-AD8B-FBB2C5453B2E}">
      <dgm:prSet/>
      <dgm:spPr/>
      <dgm:t>
        <a:bodyPr/>
        <a:lstStyle/>
        <a:p>
          <a:r>
            <a:rPr lang="en-US" b="0" i="0" dirty="0"/>
            <a:t>It achieved </a:t>
          </a:r>
          <a:r>
            <a:rPr lang="en-US" b="1" i="0" dirty="0"/>
            <a:t>highest cross-validation accuracy</a:t>
          </a:r>
          <a:r>
            <a:rPr lang="en-US" b="0" i="0" dirty="0"/>
            <a:t> (59.8%).</a:t>
          </a:r>
          <a:endParaRPr lang="en-US" dirty="0"/>
        </a:p>
      </dgm:t>
    </dgm:pt>
    <dgm:pt modelId="{DE18593E-EF20-46D9-9FC2-0B52ACD19434}" type="parTrans" cxnId="{6A2A5315-562D-4DC8-B1DF-A1254BFC659D}">
      <dgm:prSet/>
      <dgm:spPr/>
      <dgm:t>
        <a:bodyPr/>
        <a:lstStyle/>
        <a:p>
          <a:endParaRPr lang="en-US"/>
        </a:p>
      </dgm:t>
    </dgm:pt>
    <dgm:pt modelId="{4F61DC8F-4139-4E26-A623-65CE7EC2F8B9}" type="sibTrans" cxnId="{6A2A5315-562D-4DC8-B1DF-A1254BFC659D}">
      <dgm:prSet/>
      <dgm:spPr/>
      <dgm:t>
        <a:bodyPr/>
        <a:lstStyle/>
        <a:p>
          <a:endParaRPr lang="en-US"/>
        </a:p>
      </dgm:t>
    </dgm:pt>
    <dgm:pt modelId="{1C78A154-98AE-464A-9ABE-5EDBB3F051DF}">
      <dgm:prSet/>
      <dgm:spPr/>
      <dgm:t>
        <a:bodyPr/>
        <a:lstStyle/>
        <a:p>
          <a:r>
            <a:rPr lang="en-US" b="0" i="0" dirty="0"/>
            <a:t>More stable and interpretable.</a:t>
          </a:r>
          <a:endParaRPr lang="en-US" dirty="0"/>
        </a:p>
      </dgm:t>
    </dgm:pt>
    <dgm:pt modelId="{51E2D9AF-A56E-461E-A32B-E0B5401D81F0}" type="parTrans" cxnId="{72F0E6C6-06ED-49C4-8D12-8C28331E818D}">
      <dgm:prSet/>
      <dgm:spPr/>
      <dgm:t>
        <a:bodyPr/>
        <a:lstStyle/>
        <a:p>
          <a:endParaRPr lang="en-US"/>
        </a:p>
      </dgm:t>
    </dgm:pt>
    <dgm:pt modelId="{DBD392B9-643C-414F-89D4-CA6BD27C50FB}" type="sibTrans" cxnId="{72F0E6C6-06ED-49C4-8D12-8C28331E818D}">
      <dgm:prSet/>
      <dgm:spPr/>
      <dgm:t>
        <a:bodyPr/>
        <a:lstStyle/>
        <a:p>
          <a:endParaRPr lang="en-US"/>
        </a:p>
      </dgm:t>
    </dgm:pt>
    <dgm:pt modelId="{E3BF0043-D802-4FE7-B808-3D8C25C20DC0}">
      <dgm:prSet/>
      <dgm:spPr/>
      <dgm:t>
        <a:bodyPr/>
        <a:lstStyle/>
        <a:p>
          <a:r>
            <a:rPr lang="en-US" b="0" i="0"/>
            <a:t>Less sensitive to noise compared to KNN and Decision Trees.</a:t>
          </a:r>
          <a:endParaRPr lang="en-US"/>
        </a:p>
      </dgm:t>
    </dgm:pt>
    <dgm:pt modelId="{7412217E-902E-4E89-9957-366EA874DE96}" type="parTrans" cxnId="{D07CD91C-7704-4798-8E7B-89D28D6D4B55}">
      <dgm:prSet/>
      <dgm:spPr/>
      <dgm:t>
        <a:bodyPr/>
        <a:lstStyle/>
        <a:p>
          <a:endParaRPr lang="en-US"/>
        </a:p>
      </dgm:t>
    </dgm:pt>
    <dgm:pt modelId="{12F9E290-F26C-4430-97B5-6F03AE4B8E0F}" type="sibTrans" cxnId="{D07CD91C-7704-4798-8E7B-89D28D6D4B55}">
      <dgm:prSet/>
      <dgm:spPr/>
      <dgm:t>
        <a:bodyPr/>
        <a:lstStyle/>
        <a:p>
          <a:endParaRPr lang="en-US"/>
        </a:p>
      </dgm:t>
    </dgm:pt>
    <dgm:pt modelId="{5213286E-321D-44C2-88DA-6AEDCB7DAC95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i="0" dirty="0">
              <a:solidFill>
                <a:schemeClr val="bg1"/>
              </a:solidFill>
            </a:rPr>
            <a:t>Managerial Insights</a:t>
          </a:r>
          <a:r>
            <a:rPr lang="en-US" b="0" i="0" dirty="0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C00892C6-F527-45F8-9F34-EE4797DF9615}" type="parTrans" cxnId="{0721625A-F485-42B8-9776-E14474163873}">
      <dgm:prSet/>
      <dgm:spPr/>
      <dgm:t>
        <a:bodyPr/>
        <a:lstStyle/>
        <a:p>
          <a:endParaRPr lang="en-US"/>
        </a:p>
      </dgm:t>
    </dgm:pt>
    <dgm:pt modelId="{EF928772-33C2-47C4-8052-F775C0A95A1F}" type="sibTrans" cxnId="{0721625A-F485-42B8-9776-E14474163873}">
      <dgm:prSet/>
      <dgm:spPr/>
      <dgm:t>
        <a:bodyPr/>
        <a:lstStyle/>
        <a:p>
          <a:endParaRPr lang="en-US"/>
        </a:p>
      </dgm:t>
    </dgm:pt>
    <dgm:pt modelId="{4FC2DF17-9E6D-4EC6-8B07-25DF8E57BEE8}">
      <dgm:prSet/>
      <dgm:spPr/>
      <dgm:t>
        <a:bodyPr/>
        <a:lstStyle/>
        <a:p>
          <a:r>
            <a:rPr lang="en-US" b="0" i="0" dirty="0"/>
            <a:t>Focus on promoting songs with higher </a:t>
          </a:r>
          <a:r>
            <a:rPr lang="en-US" b="1" i="0" dirty="0"/>
            <a:t>danceability</a:t>
          </a:r>
          <a:r>
            <a:rPr lang="en-US" b="0" i="0" dirty="0"/>
            <a:t>, </a:t>
          </a:r>
          <a:r>
            <a:rPr lang="en-US" b="1" i="0" dirty="0"/>
            <a:t>tempo</a:t>
          </a:r>
          <a:r>
            <a:rPr lang="en-US" b="0" i="0" dirty="0"/>
            <a:t>, </a:t>
          </a:r>
          <a:r>
            <a:rPr lang="en-US" b="1" i="0" dirty="0"/>
            <a:t>energy</a:t>
          </a:r>
          <a:r>
            <a:rPr lang="en-US" b="0" i="0" dirty="0"/>
            <a:t>, and </a:t>
          </a:r>
          <a:r>
            <a:rPr lang="en-US" b="1" i="0" dirty="0"/>
            <a:t>loudness</a:t>
          </a:r>
          <a:r>
            <a:rPr lang="en-US" b="0" i="0" dirty="0"/>
            <a:t>.</a:t>
          </a:r>
          <a:endParaRPr lang="en-US" dirty="0"/>
        </a:p>
      </dgm:t>
    </dgm:pt>
    <dgm:pt modelId="{19B77690-929A-4869-B1AC-88F8591440DE}" type="parTrans" cxnId="{B97154D4-AECB-43AD-8C13-107DD96180CB}">
      <dgm:prSet/>
      <dgm:spPr/>
      <dgm:t>
        <a:bodyPr/>
        <a:lstStyle/>
        <a:p>
          <a:endParaRPr lang="en-US"/>
        </a:p>
      </dgm:t>
    </dgm:pt>
    <dgm:pt modelId="{665CBE44-5713-4119-817E-E4D8FC17E85D}" type="sibTrans" cxnId="{B97154D4-AECB-43AD-8C13-107DD96180CB}">
      <dgm:prSet/>
      <dgm:spPr/>
      <dgm:t>
        <a:bodyPr/>
        <a:lstStyle/>
        <a:p>
          <a:endParaRPr lang="en-US"/>
        </a:p>
      </dgm:t>
    </dgm:pt>
    <dgm:pt modelId="{14D34630-C702-40B0-AECC-8FA07F4F0776}">
      <dgm:prSet/>
      <dgm:spPr/>
      <dgm:t>
        <a:bodyPr/>
        <a:lstStyle/>
        <a:p>
          <a:r>
            <a:rPr lang="en-US" b="0" i="0" dirty="0"/>
            <a:t>These features have positive association with higher popularity (based on Logistic Regression odds ratios).</a:t>
          </a:r>
          <a:endParaRPr lang="en-US" dirty="0"/>
        </a:p>
      </dgm:t>
    </dgm:pt>
    <dgm:pt modelId="{B4F66F14-92E6-47DB-92D2-731134CB4DEB}" type="parTrans" cxnId="{90DFDC3F-D855-4638-AC1F-8A51AD4547EE}">
      <dgm:prSet/>
      <dgm:spPr/>
      <dgm:t>
        <a:bodyPr/>
        <a:lstStyle/>
        <a:p>
          <a:endParaRPr lang="en-US"/>
        </a:p>
      </dgm:t>
    </dgm:pt>
    <dgm:pt modelId="{CEF4CAE8-D9C7-4403-8866-D1E5AE4921F1}" type="sibTrans" cxnId="{90DFDC3F-D855-4638-AC1F-8A51AD4547EE}">
      <dgm:prSet/>
      <dgm:spPr/>
      <dgm:t>
        <a:bodyPr/>
        <a:lstStyle/>
        <a:p>
          <a:endParaRPr lang="en-US"/>
        </a:p>
      </dgm:t>
    </dgm:pt>
    <dgm:pt modelId="{CA9D27EE-3356-471E-9011-B47FE71F9B03}" type="pres">
      <dgm:prSet presAssocID="{6F7515BF-C6D7-49E8-868D-382B89200151}" presName="Name0" presStyleCnt="0">
        <dgm:presLayoutVars>
          <dgm:dir/>
          <dgm:resizeHandles val="exact"/>
        </dgm:presLayoutVars>
      </dgm:prSet>
      <dgm:spPr/>
    </dgm:pt>
    <dgm:pt modelId="{5EBB7115-4E7D-4FF0-9FD1-0BB265B2428B}" type="pres">
      <dgm:prSet presAssocID="{5C82810B-EC48-4078-9A61-BE4FF967D748}" presName="node" presStyleLbl="node1" presStyleIdx="0" presStyleCnt="11">
        <dgm:presLayoutVars>
          <dgm:bulletEnabled val="1"/>
        </dgm:presLayoutVars>
      </dgm:prSet>
      <dgm:spPr/>
    </dgm:pt>
    <dgm:pt modelId="{639C29B0-4034-44EC-87AD-FA259C3519D4}" type="pres">
      <dgm:prSet presAssocID="{EF5C6AA5-F42A-45FC-B750-576CBCB83499}" presName="sibTrans" presStyleLbl="sibTrans1D1" presStyleIdx="0" presStyleCnt="10"/>
      <dgm:spPr/>
    </dgm:pt>
    <dgm:pt modelId="{9AA8F338-F026-4033-870D-02B8A1C4DFC2}" type="pres">
      <dgm:prSet presAssocID="{EF5C6AA5-F42A-45FC-B750-576CBCB83499}" presName="connectorText" presStyleLbl="sibTrans1D1" presStyleIdx="0" presStyleCnt="10"/>
      <dgm:spPr/>
    </dgm:pt>
    <dgm:pt modelId="{8C31C9C9-DC8B-4CE6-ABBF-111D07468780}" type="pres">
      <dgm:prSet presAssocID="{6831EA5A-D3EA-42D2-BF19-D9AE3A3C4A7A}" presName="node" presStyleLbl="node1" presStyleIdx="1" presStyleCnt="11">
        <dgm:presLayoutVars>
          <dgm:bulletEnabled val="1"/>
        </dgm:presLayoutVars>
      </dgm:prSet>
      <dgm:spPr/>
    </dgm:pt>
    <dgm:pt modelId="{FD5DCDC4-F862-4265-80AD-EF786226B5DB}" type="pres">
      <dgm:prSet presAssocID="{7BD1FE87-67CC-4A15-825E-5757BEAB0286}" presName="sibTrans" presStyleLbl="sibTrans1D1" presStyleIdx="1" presStyleCnt="10"/>
      <dgm:spPr/>
    </dgm:pt>
    <dgm:pt modelId="{ECDBF2C3-07B0-4118-9401-82E4AE17DF8C}" type="pres">
      <dgm:prSet presAssocID="{7BD1FE87-67CC-4A15-825E-5757BEAB0286}" presName="connectorText" presStyleLbl="sibTrans1D1" presStyleIdx="1" presStyleCnt="10"/>
      <dgm:spPr/>
    </dgm:pt>
    <dgm:pt modelId="{5CE41179-1CE8-4D47-96F7-C5D28BBFDF33}" type="pres">
      <dgm:prSet presAssocID="{101DB93D-8480-4C38-9871-5A9D2898ACEB}" presName="node" presStyleLbl="node1" presStyleIdx="2" presStyleCnt="11">
        <dgm:presLayoutVars>
          <dgm:bulletEnabled val="1"/>
        </dgm:presLayoutVars>
      </dgm:prSet>
      <dgm:spPr/>
    </dgm:pt>
    <dgm:pt modelId="{FF007059-9CAF-4034-B1FC-C32620D0CB0E}" type="pres">
      <dgm:prSet presAssocID="{9036D912-B45E-490E-ADA9-6B0F94689DE4}" presName="sibTrans" presStyleLbl="sibTrans1D1" presStyleIdx="2" presStyleCnt="10"/>
      <dgm:spPr/>
    </dgm:pt>
    <dgm:pt modelId="{07BFDC60-01DE-465A-BD5B-7673E3F2FBCA}" type="pres">
      <dgm:prSet presAssocID="{9036D912-B45E-490E-ADA9-6B0F94689DE4}" presName="connectorText" presStyleLbl="sibTrans1D1" presStyleIdx="2" presStyleCnt="10"/>
      <dgm:spPr/>
    </dgm:pt>
    <dgm:pt modelId="{B8DE8D4A-5A67-4DB4-BB6B-6568D80ACFAB}" type="pres">
      <dgm:prSet presAssocID="{6BB21FE0-0B5F-48F2-94AA-C143E3EE56C3}" presName="node" presStyleLbl="node1" presStyleIdx="3" presStyleCnt="11">
        <dgm:presLayoutVars>
          <dgm:bulletEnabled val="1"/>
        </dgm:presLayoutVars>
      </dgm:prSet>
      <dgm:spPr/>
    </dgm:pt>
    <dgm:pt modelId="{4EC29C69-A944-45CC-BDA3-0F668B0A12F0}" type="pres">
      <dgm:prSet presAssocID="{D2064298-BFE3-4DF3-A3B2-55B37D28B332}" presName="sibTrans" presStyleLbl="sibTrans1D1" presStyleIdx="3" presStyleCnt="10"/>
      <dgm:spPr/>
    </dgm:pt>
    <dgm:pt modelId="{231E77C4-5396-4C2B-A27E-74A30429B29D}" type="pres">
      <dgm:prSet presAssocID="{D2064298-BFE3-4DF3-A3B2-55B37D28B332}" presName="connectorText" presStyleLbl="sibTrans1D1" presStyleIdx="3" presStyleCnt="10"/>
      <dgm:spPr/>
    </dgm:pt>
    <dgm:pt modelId="{C7CB333E-7E9A-41EF-9D81-F4A1F8F8819C}" type="pres">
      <dgm:prSet presAssocID="{05C5FD85-C1E5-427D-8C55-7E1AF50A321C}" presName="node" presStyleLbl="node1" presStyleIdx="4" presStyleCnt="11">
        <dgm:presLayoutVars>
          <dgm:bulletEnabled val="1"/>
        </dgm:presLayoutVars>
      </dgm:prSet>
      <dgm:spPr/>
    </dgm:pt>
    <dgm:pt modelId="{3604780C-50EB-4DE2-BBCE-B01850ABDA8E}" type="pres">
      <dgm:prSet presAssocID="{9D0148D1-C613-4133-9E71-B31EDD7FBEA9}" presName="sibTrans" presStyleLbl="sibTrans1D1" presStyleIdx="4" presStyleCnt="10"/>
      <dgm:spPr/>
    </dgm:pt>
    <dgm:pt modelId="{FA3C34A1-A4C5-4EEF-836A-3C000BA388DC}" type="pres">
      <dgm:prSet presAssocID="{9D0148D1-C613-4133-9E71-B31EDD7FBEA9}" presName="connectorText" presStyleLbl="sibTrans1D1" presStyleIdx="4" presStyleCnt="10"/>
      <dgm:spPr/>
    </dgm:pt>
    <dgm:pt modelId="{3AA61EF0-811E-4C65-820E-CDB61EC6294C}" type="pres">
      <dgm:prSet presAssocID="{CC69D65D-45BB-4600-AD8B-FBB2C5453B2E}" presName="node" presStyleLbl="node1" presStyleIdx="5" presStyleCnt="11">
        <dgm:presLayoutVars>
          <dgm:bulletEnabled val="1"/>
        </dgm:presLayoutVars>
      </dgm:prSet>
      <dgm:spPr/>
    </dgm:pt>
    <dgm:pt modelId="{711543C4-8A9A-48D2-A867-85B00FC97DE8}" type="pres">
      <dgm:prSet presAssocID="{4F61DC8F-4139-4E26-A623-65CE7EC2F8B9}" presName="sibTrans" presStyleLbl="sibTrans1D1" presStyleIdx="5" presStyleCnt="10"/>
      <dgm:spPr/>
    </dgm:pt>
    <dgm:pt modelId="{33E215E7-3316-4CC2-9131-5C5B706A1B27}" type="pres">
      <dgm:prSet presAssocID="{4F61DC8F-4139-4E26-A623-65CE7EC2F8B9}" presName="connectorText" presStyleLbl="sibTrans1D1" presStyleIdx="5" presStyleCnt="10"/>
      <dgm:spPr/>
    </dgm:pt>
    <dgm:pt modelId="{F2A25D59-F00F-4DB6-9E70-E55D64FBEFF1}" type="pres">
      <dgm:prSet presAssocID="{1C78A154-98AE-464A-9ABE-5EDBB3F051DF}" presName="node" presStyleLbl="node1" presStyleIdx="6" presStyleCnt="11">
        <dgm:presLayoutVars>
          <dgm:bulletEnabled val="1"/>
        </dgm:presLayoutVars>
      </dgm:prSet>
      <dgm:spPr/>
    </dgm:pt>
    <dgm:pt modelId="{E00C172C-CBFD-4E9B-AE4F-834B70A5AFF4}" type="pres">
      <dgm:prSet presAssocID="{DBD392B9-643C-414F-89D4-CA6BD27C50FB}" presName="sibTrans" presStyleLbl="sibTrans1D1" presStyleIdx="6" presStyleCnt="10"/>
      <dgm:spPr/>
    </dgm:pt>
    <dgm:pt modelId="{614C3499-CEA7-4BE1-A86E-EB645506E3CB}" type="pres">
      <dgm:prSet presAssocID="{DBD392B9-643C-414F-89D4-CA6BD27C50FB}" presName="connectorText" presStyleLbl="sibTrans1D1" presStyleIdx="6" presStyleCnt="10"/>
      <dgm:spPr/>
    </dgm:pt>
    <dgm:pt modelId="{2C0DD129-65A6-43E6-A25A-4E161825D311}" type="pres">
      <dgm:prSet presAssocID="{E3BF0043-D802-4FE7-B808-3D8C25C20DC0}" presName="node" presStyleLbl="node1" presStyleIdx="7" presStyleCnt="11">
        <dgm:presLayoutVars>
          <dgm:bulletEnabled val="1"/>
        </dgm:presLayoutVars>
      </dgm:prSet>
      <dgm:spPr/>
    </dgm:pt>
    <dgm:pt modelId="{116EF4EF-1B24-432F-97BE-55DFA0065D50}" type="pres">
      <dgm:prSet presAssocID="{12F9E290-F26C-4430-97B5-6F03AE4B8E0F}" presName="sibTrans" presStyleLbl="sibTrans1D1" presStyleIdx="7" presStyleCnt="10"/>
      <dgm:spPr/>
    </dgm:pt>
    <dgm:pt modelId="{AA16F4AB-198E-4BB9-8E1D-A917626CE60F}" type="pres">
      <dgm:prSet presAssocID="{12F9E290-F26C-4430-97B5-6F03AE4B8E0F}" presName="connectorText" presStyleLbl="sibTrans1D1" presStyleIdx="7" presStyleCnt="10"/>
      <dgm:spPr/>
    </dgm:pt>
    <dgm:pt modelId="{DB8E42E7-25B6-4DEA-83BD-101115C06627}" type="pres">
      <dgm:prSet presAssocID="{5213286E-321D-44C2-88DA-6AEDCB7DAC95}" presName="node" presStyleLbl="node1" presStyleIdx="8" presStyleCnt="11">
        <dgm:presLayoutVars>
          <dgm:bulletEnabled val="1"/>
        </dgm:presLayoutVars>
      </dgm:prSet>
      <dgm:spPr/>
    </dgm:pt>
    <dgm:pt modelId="{0309D0B1-7C43-40DB-B07F-B95E6670855C}" type="pres">
      <dgm:prSet presAssocID="{EF928772-33C2-47C4-8052-F775C0A95A1F}" presName="sibTrans" presStyleLbl="sibTrans1D1" presStyleIdx="8" presStyleCnt="10"/>
      <dgm:spPr/>
    </dgm:pt>
    <dgm:pt modelId="{134B3EE6-CE4C-4FDA-BB80-6DA42B2182D9}" type="pres">
      <dgm:prSet presAssocID="{EF928772-33C2-47C4-8052-F775C0A95A1F}" presName="connectorText" presStyleLbl="sibTrans1D1" presStyleIdx="8" presStyleCnt="10"/>
      <dgm:spPr/>
    </dgm:pt>
    <dgm:pt modelId="{B91D8760-8381-4470-9DE1-326B90A017D3}" type="pres">
      <dgm:prSet presAssocID="{4FC2DF17-9E6D-4EC6-8B07-25DF8E57BEE8}" presName="node" presStyleLbl="node1" presStyleIdx="9" presStyleCnt="11">
        <dgm:presLayoutVars>
          <dgm:bulletEnabled val="1"/>
        </dgm:presLayoutVars>
      </dgm:prSet>
      <dgm:spPr/>
    </dgm:pt>
    <dgm:pt modelId="{9CBB557D-102D-4F2D-A55D-8CB4B8FD3B2D}" type="pres">
      <dgm:prSet presAssocID="{665CBE44-5713-4119-817E-E4D8FC17E85D}" presName="sibTrans" presStyleLbl="sibTrans1D1" presStyleIdx="9" presStyleCnt="10"/>
      <dgm:spPr/>
    </dgm:pt>
    <dgm:pt modelId="{2B61DC4F-FD62-4CBB-BC70-A8C921C49B15}" type="pres">
      <dgm:prSet presAssocID="{665CBE44-5713-4119-817E-E4D8FC17E85D}" presName="connectorText" presStyleLbl="sibTrans1D1" presStyleIdx="9" presStyleCnt="10"/>
      <dgm:spPr/>
    </dgm:pt>
    <dgm:pt modelId="{B43AAEA6-77E1-4619-922E-8F696D7DB236}" type="pres">
      <dgm:prSet presAssocID="{14D34630-C702-40B0-AECC-8FA07F4F0776}" presName="node" presStyleLbl="node1" presStyleIdx="10" presStyleCnt="11" custScaleX="131679" custScaleY="107769">
        <dgm:presLayoutVars>
          <dgm:bulletEnabled val="1"/>
        </dgm:presLayoutVars>
      </dgm:prSet>
      <dgm:spPr/>
    </dgm:pt>
  </dgm:ptLst>
  <dgm:cxnLst>
    <dgm:cxn modelId="{70CE0003-D473-4E71-B682-C121563EE01B}" type="presOf" srcId="{665CBE44-5713-4119-817E-E4D8FC17E85D}" destId="{9CBB557D-102D-4F2D-A55D-8CB4B8FD3B2D}" srcOrd="0" destOrd="0" presId="urn:microsoft.com/office/officeart/2016/7/layout/RepeatingBendingProcessNew"/>
    <dgm:cxn modelId="{5918690C-E908-49B2-AC8E-5B549A3CC8DC}" type="presOf" srcId="{DBD392B9-643C-414F-89D4-CA6BD27C50FB}" destId="{E00C172C-CBFD-4E9B-AE4F-834B70A5AFF4}" srcOrd="0" destOrd="0" presId="urn:microsoft.com/office/officeart/2016/7/layout/RepeatingBendingProcessNew"/>
    <dgm:cxn modelId="{2FE12D11-BFFA-48B1-AD3B-35A50E902073}" type="presOf" srcId="{EF5C6AA5-F42A-45FC-B750-576CBCB83499}" destId="{9AA8F338-F026-4033-870D-02B8A1C4DFC2}" srcOrd="1" destOrd="0" presId="urn:microsoft.com/office/officeart/2016/7/layout/RepeatingBendingProcessNew"/>
    <dgm:cxn modelId="{35B0C511-E715-4D96-82D5-56EE952A0D72}" type="presOf" srcId="{D2064298-BFE3-4DF3-A3B2-55B37D28B332}" destId="{231E77C4-5396-4C2B-A27E-74A30429B29D}" srcOrd="1" destOrd="0" presId="urn:microsoft.com/office/officeart/2016/7/layout/RepeatingBendingProcessNew"/>
    <dgm:cxn modelId="{6A2A5315-562D-4DC8-B1DF-A1254BFC659D}" srcId="{6F7515BF-C6D7-49E8-868D-382B89200151}" destId="{CC69D65D-45BB-4600-AD8B-FBB2C5453B2E}" srcOrd="5" destOrd="0" parTransId="{DE18593E-EF20-46D9-9FC2-0B52ACD19434}" sibTransId="{4F61DC8F-4139-4E26-A623-65CE7EC2F8B9}"/>
    <dgm:cxn modelId="{D07CD91C-7704-4798-8E7B-89D28D6D4B55}" srcId="{6F7515BF-C6D7-49E8-868D-382B89200151}" destId="{E3BF0043-D802-4FE7-B808-3D8C25C20DC0}" srcOrd="7" destOrd="0" parTransId="{7412217E-902E-4E89-9957-366EA874DE96}" sibTransId="{12F9E290-F26C-4430-97B5-6F03AE4B8E0F}"/>
    <dgm:cxn modelId="{C3DE9B25-E9F4-4751-8228-4B231C11CF1E}" srcId="{6F7515BF-C6D7-49E8-868D-382B89200151}" destId="{05C5FD85-C1E5-427D-8C55-7E1AF50A321C}" srcOrd="4" destOrd="0" parTransId="{8CCD45A0-D7EF-4613-8507-06BB7D05B89A}" sibTransId="{9D0148D1-C613-4133-9E71-B31EDD7FBEA9}"/>
    <dgm:cxn modelId="{8A56B12D-EBC4-479D-A2BE-6A9B5AF1057F}" type="presOf" srcId="{DBD392B9-643C-414F-89D4-CA6BD27C50FB}" destId="{614C3499-CEA7-4BE1-A86E-EB645506E3CB}" srcOrd="1" destOrd="0" presId="urn:microsoft.com/office/officeart/2016/7/layout/RepeatingBendingProcessNew"/>
    <dgm:cxn modelId="{5DA3BE2D-F24F-4311-9232-90DCAF1E04D4}" type="presOf" srcId="{4FC2DF17-9E6D-4EC6-8B07-25DF8E57BEE8}" destId="{B91D8760-8381-4470-9DE1-326B90A017D3}" srcOrd="0" destOrd="0" presId="urn:microsoft.com/office/officeart/2016/7/layout/RepeatingBendingProcessNew"/>
    <dgm:cxn modelId="{A425DA36-02DC-489E-A503-121DE087B29F}" type="presOf" srcId="{D2064298-BFE3-4DF3-A3B2-55B37D28B332}" destId="{4EC29C69-A944-45CC-BDA3-0F668B0A12F0}" srcOrd="0" destOrd="0" presId="urn:microsoft.com/office/officeart/2016/7/layout/RepeatingBendingProcessNew"/>
    <dgm:cxn modelId="{B6755D3A-BA2F-4ACB-91AD-8EB9E0977ABF}" type="presOf" srcId="{05C5FD85-C1E5-427D-8C55-7E1AF50A321C}" destId="{C7CB333E-7E9A-41EF-9D81-F4A1F8F8819C}" srcOrd="0" destOrd="0" presId="urn:microsoft.com/office/officeart/2016/7/layout/RepeatingBendingProcessNew"/>
    <dgm:cxn modelId="{4768AD3A-7E2B-4914-BB3C-A6D66AEECEAF}" type="presOf" srcId="{6BB21FE0-0B5F-48F2-94AA-C143E3EE56C3}" destId="{B8DE8D4A-5A67-4DB4-BB6B-6568D80ACFAB}" srcOrd="0" destOrd="0" presId="urn:microsoft.com/office/officeart/2016/7/layout/RepeatingBendingProcessNew"/>
    <dgm:cxn modelId="{90DFDC3F-D855-4638-AC1F-8A51AD4547EE}" srcId="{6F7515BF-C6D7-49E8-868D-382B89200151}" destId="{14D34630-C702-40B0-AECC-8FA07F4F0776}" srcOrd="10" destOrd="0" parTransId="{B4F66F14-92E6-47DB-92D2-731134CB4DEB}" sibTransId="{CEF4CAE8-D9C7-4403-8866-D1E5AE4921F1}"/>
    <dgm:cxn modelId="{139BF65E-9B33-4D30-AA62-3B6C803FF735}" type="presOf" srcId="{9D0148D1-C613-4133-9E71-B31EDD7FBEA9}" destId="{3604780C-50EB-4DE2-BBCE-B01850ABDA8E}" srcOrd="0" destOrd="0" presId="urn:microsoft.com/office/officeart/2016/7/layout/RepeatingBendingProcessNew"/>
    <dgm:cxn modelId="{79F3D944-A164-4AED-BA40-030A7464B8A5}" type="presOf" srcId="{1C78A154-98AE-464A-9ABE-5EDBB3F051DF}" destId="{F2A25D59-F00F-4DB6-9E70-E55D64FBEFF1}" srcOrd="0" destOrd="0" presId="urn:microsoft.com/office/officeart/2016/7/layout/RepeatingBendingProcessNew"/>
    <dgm:cxn modelId="{E2979065-75E8-4C4E-A639-8C2F316A444E}" type="presOf" srcId="{7BD1FE87-67CC-4A15-825E-5757BEAB0286}" destId="{FD5DCDC4-F862-4265-80AD-EF786226B5DB}" srcOrd="0" destOrd="0" presId="urn:microsoft.com/office/officeart/2016/7/layout/RepeatingBendingProcessNew"/>
    <dgm:cxn modelId="{DCD37367-6D80-41D2-AD0E-D00B457DF8E2}" type="presOf" srcId="{6831EA5A-D3EA-42D2-BF19-D9AE3A3C4A7A}" destId="{8C31C9C9-DC8B-4CE6-ABBF-111D07468780}" srcOrd="0" destOrd="0" presId="urn:microsoft.com/office/officeart/2016/7/layout/RepeatingBendingProcessNew"/>
    <dgm:cxn modelId="{E906674E-3D0B-44BB-BFE9-21450CA155D7}" type="presOf" srcId="{14D34630-C702-40B0-AECC-8FA07F4F0776}" destId="{B43AAEA6-77E1-4619-922E-8F696D7DB236}" srcOrd="0" destOrd="0" presId="urn:microsoft.com/office/officeart/2016/7/layout/RepeatingBendingProcessNew"/>
    <dgm:cxn modelId="{3438924E-86C5-457D-97D8-585F60F68D3E}" type="presOf" srcId="{9036D912-B45E-490E-ADA9-6B0F94689DE4}" destId="{FF007059-9CAF-4034-B1FC-C32620D0CB0E}" srcOrd="0" destOrd="0" presId="urn:microsoft.com/office/officeart/2016/7/layout/RepeatingBendingProcessNew"/>
    <dgm:cxn modelId="{0721625A-F485-42B8-9776-E14474163873}" srcId="{6F7515BF-C6D7-49E8-868D-382B89200151}" destId="{5213286E-321D-44C2-88DA-6AEDCB7DAC95}" srcOrd="8" destOrd="0" parTransId="{C00892C6-F527-45F8-9F34-EE4797DF9615}" sibTransId="{EF928772-33C2-47C4-8052-F775C0A95A1F}"/>
    <dgm:cxn modelId="{5A470485-5D9F-4E83-8A1F-3825323958E1}" type="presOf" srcId="{9036D912-B45E-490E-ADA9-6B0F94689DE4}" destId="{07BFDC60-01DE-465A-BD5B-7673E3F2FBCA}" srcOrd="1" destOrd="0" presId="urn:microsoft.com/office/officeart/2016/7/layout/RepeatingBendingProcessNew"/>
    <dgm:cxn modelId="{9F6AF88F-59D5-43D9-BC5F-A1A99EE56837}" type="presOf" srcId="{EF5C6AA5-F42A-45FC-B750-576CBCB83499}" destId="{639C29B0-4034-44EC-87AD-FA259C3519D4}" srcOrd="0" destOrd="0" presId="urn:microsoft.com/office/officeart/2016/7/layout/RepeatingBendingProcessNew"/>
    <dgm:cxn modelId="{EBE8D396-B13B-4DB9-9C3F-5012D50BFE98}" type="presOf" srcId="{101DB93D-8480-4C38-9871-5A9D2898ACEB}" destId="{5CE41179-1CE8-4D47-96F7-C5D28BBFDF33}" srcOrd="0" destOrd="0" presId="urn:microsoft.com/office/officeart/2016/7/layout/RepeatingBendingProcessNew"/>
    <dgm:cxn modelId="{76C9CC9A-189A-46C3-9290-F879F20302BC}" type="presOf" srcId="{EF928772-33C2-47C4-8052-F775C0A95A1F}" destId="{134B3EE6-CE4C-4FDA-BB80-6DA42B2182D9}" srcOrd="1" destOrd="0" presId="urn:microsoft.com/office/officeart/2016/7/layout/RepeatingBendingProcessNew"/>
    <dgm:cxn modelId="{89A0059D-1EB2-4173-9CC9-4799E3DA80EF}" type="presOf" srcId="{7BD1FE87-67CC-4A15-825E-5757BEAB0286}" destId="{ECDBF2C3-07B0-4118-9401-82E4AE17DF8C}" srcOrd="1" destOrd="0" presId="urn:microsoft.com/office/officeart/2016/7/layout/RepeatingBendingProcessNew"/>
    <dgm:cxn modelId="{2EC9B6A2-A9FF-43F0-8264-F72600BD0C9C}" type="presOf" srcId="{665CBE44-5713-4119-817E-E4D8FC17E85D}" destId="{2B61DC4F-FD62-4CBB-BC70-A8C921C49B15}" srcOrd="1" destOrd="0" presId="urn:microsoft.com/office/officeart/2016/7/layout/RepeatingBendingProcessNew"/>
    <dgm:cxn modelId="{A32E0CAD-9BB6-4099-8391-97A1B39D05AD}" type="presOf" srcId="{12F9E290-F26C-4430-97B5-6F03AE4B8E0F}" destId="{116EF4EF-1B24-432F-97BE-55DFA0065D50}" srcOrd="0" destOrd="0" presId="urn:microsoft.com/office/officeart/2016/7/layout/RepeatingBendingProcessNew"/>
    <dgm:cxn modelId="{5AEBDDAE-D28B-4953-A862-7AD7C026964C}" srcId="{6F7515BF-C6D7-49E8-868D-382B89200151}" destId="{6BB21FE0-0B5F-48F2-94AA-C143E3EE56C3}" srcOrd="3" destOrd="0" parTransId="{3B2B7E89-3275-4DC3-A97A-288A4DAFCC7F}" sibTransId="{D2064298-BFE3-4DF3-A3B2-55B37D28B332}"/>
    <dgm:cxn modelId="{A9A1F8AE-F377-4C4D-A40F-C849BEBCB3D2}" srcId="{6F7515BF-C6D7-49E8-868D-382B89200151}" destId="{6831EA5A-D3EA-42D2-BF19-D9AE3A3C4A7A}" srcOrd="1" destOrd="0" parTransId="{FBBA4C58-B88F-4049-A712-A6923A1E3F5F}" sibTransId="{7BD1FE87-67CC-4A15-825E-5757BEAB0286}"/>
    <dgm:cxn modelId="{1E3634B1-8589-40A5-BDEC-C404CF342C1A}" type="presOf" srcId="{CC69D65D-45BB-4600-AD8B-FBB2C5453B2E}" destId="{3AA61EF0-811E-4C65-820E-CDB61EC6294C}" srcOrd="0" destOrd="0" presId="urn:microsoft.com/office/officeart/2016/7/layout/RepeatingBendingProcessNew"/>
    <dgm:cxn modelId="{31437BB3-53D4-4491-A29F-E481AE7E736A}" srcId="{6F7515BF-C6D7-49E8-868D-382B89200151}" destId="{5C82810B-EC48-4078-9A61-BE4FF967D748}" srcOrd="0" destOrd="0" parTransId="{3336ADA7-A042-4FF6-B557-8ABCB14D3CE6}" sibTransId="{EF5C6AA5-F42A-45FC-B750-576CBCB83499}"/>
    <dgm:cxn modelId="{4D2A1ABC-83E1-4897-8FB3-DBC1E1F18F1F}" type="presOf" srcId="{4F61DC8F-4139-4E26-A623-65CE7EC2F8B9}" destId="{711543C4-8A9A-48D2-A867-85B00FC97DE8}" srcOrd="0" destOrd="0" presId="urn:microsoft.com/office/officeart/2016/7/layout/RepeatingBendingProcessNew"/>
    <dgm:cxn modelId="{37FD8CC0-92D7-403F-B77F-3D364F3C363F}" type="presOf" srcId="{12F9E290-F26C-4430-97B5-6F03AE4B8E0F}" destId="{AA16F4AB-198E-4BB9-8E1D-A917626CE60F}" srcOrd="1" destOrd="0" presId="urn:microsoft.com/office/officeart/2016/7/layout/RepeatingBendingProcessNew"/>
    <dgm:cxn modelId="{72F0E6C6-06ED-49C4-8D12-8C28331E818D}" srcId="{6F7515BF-C6D7-49E8-868D-382B89200151}" destId="{1C78A154-98AE-464A-9ABE-5EDBB3F051DF}" srcOrd="6" destOrd="0" parTransId="{51E2D9AF-A56E-461E-A32B-E0B5401D81F0}" sibTransId="{DBD392B9-643C-414F-89D4-CA6BD27C50FB}"/>
    <dgm:cxn modelId="{7B81FCC7-1E0E-474F-A037-8956A006CD07}" type="presOf" srcId="{5C82810B-EC48-4078-9A61-BE4FF967D748}" destId="{5EBB7115-4E7D-4FF0-9FD1-0BB265B2428B}" srcOrd="0" destOrd="0" presId="urn:microsoft.com/office/officeart/2016/7/layout/RepeatingBendingProcessNew"/>
    <dgm:cxn modelId="{B97154D4-AECB-43AD-8C13-107DD96180CB}" srcId="{6F7515BF-C6D7-49E8-868D-382B89200151}" destId="{4FC2DF17-9E6D-4EC6-8B07-25DF8E57BEE8}" srcOrd="9" destOrd="0" parTransId="{19B77690-929A-4869-B1AC-88F8591440DE}" sibTransId="{665CBE44-5713-4119-817E-E4D8FC17E85D}"/>
    <dgm:cxn modelId="{C69FA2D4-E32A-4912-BE38-12CBA8F79804}" type="presOf" srcId="{5213286E-321D-44C2-88DA-6AEDCB7DAC95}" destId="{DB8E42E7-25B6-4DEA-83BD-101115C06627}" srcOrd="0" destOrd="0" presId="urn:microsoft.com/office/officeart/2016/7/layout/RepeatingBendingProcessNew"/>
    <dgm:cxn modelId="{15D258E1-6540-4E69-9036-DFABBB33E954}" type="presOf" srcId="{EF928772-33C2-47C4-8052-F775C0A95A1F}" destId="{0309D0B1-7C43-40DB-B07F-B95E6670855C}" srcOrd="0" destOrd="0" presId="urn:microsoft.com/office/officeart/2016/7/layout/RepeatingBendingProcessNew"/>
    <dgm:cxn modelId="{A13D8DE6-6506-4C5F-BE76-53C93F1058D8}" type="presOf" srcId="{E3BF0043-D802-4FE7-B808-3D8C25C20DC0}" destId="{2C0DD129-65A6-43E6-A25A-4E161825D311}" srcOrd="0" destOrd="0" presId="urn:microsoft.com/office/officeart/2016/7/layout/RepeatingBendingProcessNew"/>
    <dgm:cxn modelId="{796D4CEE-2470-4929-BEF8-7D787733603A}" type="presOf" srcId="{9D0148D1-C613-4133-9E71-B31EDD7FBEA9}" destId="{FA3C34A1-A4C5-4EEF-836A-3C000BA388DC}" srcOrd="1" destOrd="0" presId="urn:microsoft.com/office/officeart/2016/7/layout/RepeatingBendingProcessNew"/>
    <dgm:cxn modelId="{D243BDEF-7994-489A-AAAB-3AFA0B202B30}" type="presOf" srcId="{4F61DC8F-4139-4E26-A623-65CE7EC2F8B9}" destId="{33E215E7-3316-4CC2-9131-5C5B706A1B27}" srcOrd="1" destOrd="0" presId="urn:microsoft.com/office/officeart/2016/7/layout/RepeatingBendingProcessNew"/>
    <dgm:cxn modelId="{B86291FB-A9EE-4B21-B2F6-CAB4BA693526}" type="presOf" srcId="{6F7515BF-C6D7-49E8-868D-382B89200151}" destId="{CA9D27EE-3356-471E-9011-B47FE71F9B03}" srcOrd="0" destOrd="0" presId="urn:microsoft.com/office/officeart/2016/7/layout/RepeatingBendingProcessNew"/>
    <dgm:cxn modelId="{A2E19CFB-F0D1-4F56-9E87-D3A17E6DEE79}" srcId="{6F7515BF-C6D7-49E8-868D-382B89200151}" destId="{101DB93D-8480-4C38-9871-5A9D2898ACEB}" srcOrd="2" destOrd="0" parTransId="{912BDA52-C142-467B-A2F5-CF0CD0F1077F}" sibTransId="{9036D912-B45E-490E-ADA9-6B0F94689DE4}"/>
    <dgm:cxn modelId="{DEF2AEE6-C2D6-4CD4-826F-1A42902CB54D}" type="presParOf" srcId="{CA9D27EE-3356-471E-9011-B47FE71F9B03}" destId="{5EBB7115-4E7D-4FF0-9FD1-0BB265B2428B}" srcOrd="0" destOrd="0" presId="urn:microsoft.com/office/officeart/2016/7/layout/RepeatingBendingProcessNew"/>
    <dgm:cxn modelId="{5C8B5EF2-C55A-4CB3-AEF0-5388682DAB69}" type="presParOf" srcId="{CA9D27EE-3356-471E-9011-B47FE71F9B03}" destId="{639C29B0-4034-44EC-87AD-FA259C3519D4}" srcOrd="1" destOrd="0" presId="urn:microsoft.com/office/officeart/2016/7/layout/RepeatingBendingProcessNew"/>
    <dgm:cxn modelId="{9952BA39-1EB6-4D91-9298-6F5B083B2210}" type="presParOf" srcId="{639C29B0-4034-44EC-87AD-FA259C3519D4}" destId="{9AA8F338-F026-4033-870D-02B8A1C4DFC2}" srcOrd="0" destOrd="0" presId="urn:microsoft.com/office/officeart/2016/7/layout/RepeatingBendingProcessNew"/>
    <dgm:cxn modelId="{0B1C3596-B2D3-41A4-92FE-0D903D2B7C4C}" type="presParOf" srcId="{CA9D27EE-3356-471E-9011-B47FE71F9B03}" destId="{8C31C9C9-DC8B-4CE6-ABBF-111D07468780}" srcOrd="2" destOrd="0" presId="urn:microsoft.com/office/officeart/2016/7/layout/RepeatingBendingProcessNew"/>
    <dgm:cxn modelId="{859345BE-92DF-419A-93C9-CAF4FBA89415}" type="presParOf" srcId="{CA9D27EE-3356-471E-9011-B47FE71F9B03}" destId="{FD5DCDC4-F862-4265-80AD-EF786226B5DB}" srcOrd="3" destOrd="0" presId="urn:microsoft.com/office/officeart/2016/7/layout/RepeatingBendingProcessNew"/>
    <dgm:cxn modelId="{F4E746B0-1E1E-4694-A5DC-A9A45A9831D3}" type="presParOf" srcId="{FD5DCDC4-F862-4265-80AD-EF786226B5DB}" destId="{ECDBF2C3-07B0-4118-9401-82E4AE17DF8C}" srcOrd="0" destOrd="0" presId="urn:microsoft.com/office/officeart/2016/7/layout/RepeatingBendingProcessNew"/>
    <dgm:cxn modelId="{D3EB593C-B0E7-4D3E-8DC7-595A7C00E66F}" type="presParOf" srcId="{CA9D27EE-3356-471E-9011-B47FE71F9B03}" destId="{5CE41179-1CE8-4D47-96F7-C5D28BBFDF33}" srcOrd="4" destOrd="0" presId="urn:microsoft.com/office/officeart/2016/7/layout/RepeatingBendingProcessNew"/>
    <dgm:cxn modelId="{FCA4E4B7-394B-4770-851F-0BE242295563}" type="presParOf" srcId="{CA9D27EE-3356-471E-9011-B47FE71F9B03}" destId="{FF007059-9CAF-4034-B1FC-C32620D0CB0E}" srcOrd="5" destOrd="0" presId="urn:microsoft.com/office/officeart/2016/7/layout/RepeatingBendingProcessNew"/>
    <dgm:cxn modelId="{5B150785-7E98-4A6C-9AD2-0D94E6A5F2A6}" type="presParOf" srcId="{FF007059-9CAF-4034-B1FC-C32620D0CB0E}" destId="{07BFDC60-01DE-465A-BD5B-7673E3F2FBCA}" srcOrd="0" destOrd="0" presId="urn:microsoft.com/office/officeart/2016/7/layout/RepeatingBendingProcessNew"/>
    <dgm:cxn modelId="{948A6766-75CC-4828-9385-5AE8E46201AB}" type="presParOf" srcId="{CA9D27EE-3356-471E-9011-B47FE71F9B03}" destId="{B8DE8D4A-5A67-4DB4-BB6B-6568D80ACFAB}" srcOrd="6" destOrd="0" presId="urn:microsoft.com/office/officeart/2016/7/layout/RepeatingBendingProcessNew"/>
    <dgm:cxn modelId="{91A580ED-90DD-4BB4-977D-E7D3D93739FA}" type="presParOf" srcId="{CA9D27EE-3356-471E-9011-B47FE71F9B03}" destId="{4EC29C69-A944-45CC-BDA3-0F668B0A12F0}" srcOrd="7" destOrd="0" presId="urn:microsoft.com/office/officeart/2016/7/layout/RepeatingBendingProcessNew"/>
    <dgm:cxn modelId="{7CE84EC4-89CC-45DD-8D4A-F5C951F770B7}" type="presParOf" srcId="{4EC29C69-A944-45CC-BDA3-0F668B0A12F0}" destId="{231E77C4-5396-4C2B-A27E-74A30429B29D}" srcOrd="0" destOrd="0" presId="urn:microsoft.com/office/officeart/2016/7/layout/RepeatingBendingProcessNew"/>
    <dgm:cxn modelId="{C4F5FD72-AC45-45C9-8722-52306AB4AA66}" type="presParOf" srcId="{CA9D27EE-3356-471E-9011-B47FE71F9B03}" destId="{C7CB333E-7E9A-41EF-9D81-F4A1F8F8819C}" srcOrd="8" destOrd="0" presId="urn:microsoft.com/office/officeart/2016/7/layout/RepeatingBendingProcessNew"/>
    <dgm:cxn modelId="{FB591B82-6E44-432C-8000-CB058720DDEE}" type="presParOf" srcId="{CA9D27EE-3356-471E-9011-B47FE71F9B03}" destId="{3604780C-50EB-4DE2-BBCE-B01850ABDA8E}" srcOrd="9" destOrd="0" presId="urn:microsoft.com/office/officeart/2016/7/layout/RepeatingBendingProcessNew"/>
    <dgm:cxn modelId="{3E16548A-5672-42B3-8E80-E8F4939D8583}" type="presParOf" srcId="{3604780C-50EB-4DE2-BBCE-B01850ABDA8E}" destId="{FA3C34A1-A4C5-4EEF-836A-3C000BA388DC}" srcOrd="0" destOrd="0" presId="urn:microsoft.com/office/officeart/2016/7/layout/RepeatingBendingProcessNew"/>
    <dgm:cxn modelId="{CDABAE43-9EDF-4F76-A1CE-69745E7034C7}" type="presParOf" srcId="{CA9D27EE-3356-471E-9011-B47FE71F9B03}" destId="{3AA61EF0-811E-4C65-820E-CDB61EC6294C}" srcOrd="10" destOrd="0" presId="urn:microsoft.com/office/officeart/2016/7/layout/RepeatingBendingProcessNew"/>
    <dgm:cxn modelId="{F0AAE248-94CD-4F9D-97C7-529FA48E7517}" type="presParOf" srcId="{CA9D27EE-3356-471E-9011-B47FE71F9B03}" destId="{711543C4-8A9A-48D2-A867-85B00FC97DE8}" srcOrd="11" destOrd="0" presId="urn:microsoft.com/office/officeart/2016/7/layout/RepeatingBendingProcessNew"/>
    <dgm:cxn modelId="{21096DB2-338F-4379-86B4-FD6F074AEC04}" type="presParOf" srcId="{711543C4-8A9A-48D2-A867-85B00FC97DE8}" destId="{33E215E7-3316-4CC2-9131-5C5B706A1B27}" srcOrd="0" destOrd="0" presId="urn:microsoft.com/office/officeart/2016/7/layout/RepeatingBendingProcessNew"/>
    <dgm:cxn modelId="{FF18D845-6B28-426F-94DC-D3A57B6448CA}" type="presParOf" srcId="{CA9D27EE-3356-471E-9011-B47FE71F9B03}" destId="{F2A25D59-F00F-4DB6-9E70-E55D64FBEFF1}" srcOrd="12" destOrd="0" presId="urn:microsoft.com/office/officeart/2016/7/layout/RepeatingBendingProcessNew"/>
    <dgm:cxn modelId="{D5DE10BE-83D9-4B73-B01B-BBD78ACC9434}" type="presParOf" srcId="{CA9D27EE-3356-471E-9011-B47FE71F9B03}" destId="{E00C172C-CBFD-4E9B-AE4F-834B70A5AFF4}" srcOrd="13" destOrd="0" presId="urn:microsoft.com/office/officeart/2016/7/layout/RepeatingBendingProcessNew"/>
    <dgm:cxn modelId="{4BFD5535-B3CB-446E-B052-E0DBEB094CAF}" type="presParOf" srcId="{E00C172C-CBFD-4E9B-AE4F-834B70A5AFF4}" destId="{614C3499-CEA7-4BE1-A86E-EB645506E3CB}" srcOrd="0" destOrd="0" presId="urn:microsoft.com/office/officeart/2016/7/layout/RepeatingBendingProcessNew"/>
    <dgm:cxn modelId="{A8500D13-0039-4D62-AFB5-DDB8B1CB8AD6}" type="presParOf" srcId="{CA9D27EE-3356-471E-9011-B47FE71F9B03}" destId="{2C0DD129-65A6-43E6-A25A-4E161825D311}" srcOrd="14" destOrd="0" presId="urn:microsoft.com/office/officeart/2016/7/layout/RepeatingBendingProcessNew"/>
    <dgm:cxn modelId="{F23346E0-B19A-4E7D-B8E3-AD176F88F8D6}" type="presParOf" srcId="{CA9D27EE-3356-471E-9011-B47FE71F9B03}" destId="{116EF4EF-1B24-432F-97BE-55DFA0065D50}" srcOrd="15" destOrd="0" presId="urn:microsoft.com/office/officeart/2016/7/layout/RepeatingBendingProcessNew"/>
    <dgm:cxn modelId="{E1473AC0-D188-4971-9C82-30FD95604932}" type="presParOf" srcId="{116EF4EF-1B24-432F-97BE-55DFA0065D50}" destId="{AA16F4AB-198E-4BB9-8E1D-A917626CE60F}" srcOrd="0" destOrd="0" presId="urn:microsoft.com/office/officeart/2016/7/layout/RepeatingBendingProcessNew"/>
    <dgm:cxn modelId="{4C2EFCB0-373E-4143-B086-5B0FCC2FA498}" type="presParOf" srcId="{CA9D27EE-3356-471E-9011-B47FE71F9B03}" destId="{DB8E42E7-25B6-4DEA-83BD-101115C06627}" srcOrd="16" destOrd="0" presId="urn:microsoft.com/office/officeart/2016/7/layout/RepeatingBendingProcessNew"/>
    <dgm:cxn modelId="{75528634-1241-4E11-B4C6-1515583078B2}" type="presParOf" srcId="{CA9D27EE-3356-471E-9011-B47FE71F9B03}" destId="{0309D0B1-7C43-40DB-B07F-B95E6670855C}" srcOrd="17" destOrd="0" presId="urn:microsoft.com/office/officeart/2016/7/layout/RepeatingBendingProcessNew"/>
    <dgm:cxn modelId="{BBEA4CF8-0C23-4F88-8839-F70C4D626CA5}" type="presParOf" srcId="{0309D0B1-7C43-40DB-B07F-B95E6670855C}" destId="{134B3EE6-CE4C-4FDA-BB80-6DA42B2182D9}" srcOrd="0" destOrd="0" presId="urn:microsoft.com/office/officeart/2016/7/layout/RepeatingBendingProcessNew"/>
    <dgm:cxn modelId="{7A318A7F-BD9A-496A-A1CB-D4A2760176DB}" type="presParOf" srcId="{CA9D27EE-3356-471E-9011-B47FE71F9B03}" destId="{B91D8760-8381-4470-9DE1-326B90A017D3}" srcOrd="18" destOrd="0" presId="urn:microsoft.com/office/officeart/2016/7/layout/RepeatingBendingProcessNew"/>
    <dgm:cxn modelId="{EC829FBB-5AEA-4F29-A07D-58A7723C2464}" type="presParOf" srcId="{CA9D27EE-3356-471E-9011-B47FE71F9B03}" destId="{9CBB557D-102D-4F2D-A55D-8CB4B8FD3B2D}" srcOrd="19" destOrd="0" presId="urn:microsoft.com/office/officeart/2016/7/layout/RepeatingBendingProcessNew"/>
    <dgm:cxn modelId="{05A8AF58-26A9-498D-8004-F169399487B9}" type="presParOf" srcId="{9CBB557D-102D-4F2D-A55D-8CB4B8FD3B2D}" destId="{2B61DC4F-FD62-4CBB-BC70-A8C921C49B15}" srcOrd="0" destOrd="0" presId="urn:microsoft.com/office/officeart/2016/7/layout/RepeatingBendingProcessNew"/>
    <dgm:cxn modelId="{33FDEABB-8225-4DBF-936F-A3BE201BA4FA}" type="presParOf" srcId="{CA9D27EE-3356-471E-9011-B47FE71F9B03}" destId="{B43AAEA6-77E1-4619-922E-8F696D7DB236}" srcOrd="20" destOrd="0" presId="urn:microsoft.com/office/officeart/2016/7/layout/RepeatingBendingProcessNew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DCAEC1-B550-44C5-BF0A-D10CEBEB9B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0AA78046-BC29-4F14-8129-F8B429ECFDC0}">
      <dgm:prSet/>
      <dgm:spPr/>
      <dgm:t>
        <a:bodyPr/>
        <a:lstStyle/>
        <a:p>
          <a:r>
            <a:rPr lang="en-US" b="0" i="0" dirty="0"/>
            <a:t>Revenue for Correct Prediction (Popular Song): +$1,000</a:t>
          </a:r>
          <a:br>
            <a:rPr lang="en-US" b="0" i="0" dirty="0"/>
          </a:br>
          <a:br>
            <a:rPr lang="en-US" b="0" i="0" dirty="0"/>
          </a:br>
          <a:endParaRPr lang="en-US" dirty="0"/>
        </a:p>
      </dgm:t>
    </dgm:pt>
    <dgm:pt modelId="{6EEF7F57-7BA9-4EF3-9D88-8B45234CE7B0}" type="parTrans" cxnId="{AA0DCE06-F064-40CE-8AA0-82C3AE4D6C05}">
      <dgm:prSet/>
      <dgm:spPr/>
      <dgm:t>
        <a:bodyPr/>
        <a:lstStyle/>
        <a:p>
          <a:endParaRPr lang="en-US"/>
        </a:p>
      </dgm:t>
    </dgm:pt>
    <dgm:pt modelId="{9CCA7E38-E6B8-44A2-A008-FEADCE5E3E6F}" type="sibTrans" cxnId="{AA0DCE06-F064-40CE-8AA0-82C3AE4D6C05}">
      <dgm:prSet/>
      <dgm:spPr/>
      <dgm:t>
        <a:bodyPr/>
        <a:lstStyle/>
        <a:p>
          <a:endParaRPr lang="en-US"/>
        </a:p>
      </dgm:t>
    </dgm:pt>
    <dgm:pt modelId="{FE616D6D-C837-4B79-8EB2-FE02F72C632B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0" i="0" dirty="0"/>
            <a:t>Cost for False Positive (Non-Popular predicted as Popular): –$700</a:t>
          </a:r>
          <a:br>
            <a:rPr lang="en-US" b="0" i="0" dirty="0"/>
          </a:br>
          <a:br>
            <a:rPr lang="en-US" b="0" i="0" dirty="0"/>
          </a:br>
          <a:endParaRPr lang="en-US" dirty="0"/>
        </a:p>
      </dgm:t>
    </dgm:pt>
    <dgm:pt modelId="{6E18EF74-D8CD-4102-B91D-6457EA95D3EA}" type="parTrans" cxnId="{A2507586-BB14-47C1-BBEF-B8B90F9609FE}">
      <dgm:prSet/>
      <dgm:spPr/>
      <dgm:t>
        <a:bodyPr/>
        <a:lstStyle/>
        <a:p>
          <a:endParaRPr lang="en-US"/>
        </a:p>
      </dgm:t>
    </dgm:pt>
    <dgm:pt modelId="{0B20DD7F-6152-47AB-88F5-E38080F3610D}" type="sibTrans" cxnId="{A2507586-BB14-47C1-BBEF-B8B90F9609FE}">
      <dgm:prSet/>
      <dgm:spPr/>
      <dgm:t>
        <a:bodyPr/>
        <a:lstStyle/>
        <a:p>
          <a:endParaRPr lang="en-US"/>
        </a:p>
      </dgm:t>
    </dgm:pt>
    <dgm:pt modelId="{9AA26EBE-5EFD-49B7-8D7E-95BBC71AF565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0" i="0" dirty="0"/>
            <a:t>Cost for False Negative (Popular predicted as Non-Popular): –$900</a:t>
          </a:r>
          <a:br>
            <a:rPr lang="en-US" b="0" i="0" dirty="0"/>
          </a:br>
          <a:br>
            <a:rPr lang="en-US" b="0" i="0" dirty="0"/>
          </a:br>
          <a:endParaRPr lang="en-US" dirty="0"/>
        </a:p>
      </dgm:t>
    </dgm:pt>
    <dgm:pt modelId="{F5E14BEF-072B-4644-9B4C-638EA3183EBD}" type="parTrans" cxnId="{D60AFADC-62E9-4BAE-ADF5-B03353E118FE}">
      <dgm:prSet/>
      <dgm:spPr/>
      <dgm:t>
        <a:bodyPr/>
        <a:lstStyle/>
        <a:p>
          <a:endParaRPr lang="en-US"/>
        </a:p>
      </dgm:t>
    </dgm:pt>
    <dgm:pt modelId="{11FBD7CA-D70B-4A07-8A8F-C16596BDB382}" type="sibTrans" cxnId="{D60AFADC-62E9-4BAE-ADF5-B03353E118FE}">
      <dgm:prSet/>
      <dgm:spPr/>
      <dgm:t>
        <a:bodyPr/>
        <a:lstStyle/>
        <a:p>
          <a:endParaRPr lang="en-US"/>
        </a:p>
      </dgm:t>
    </dgm:pt>
    <dgm:pt modelId="{13851B17-E635-4D86-A024-AB8B8F2A7E1D}">
      <dgm:prSet/>
      <dgm:spPr/>
      <dgm:t>
        <a:bodyPr/>
        <a:lstStyle/>
        <a:p>
          <a:r>
            <a:rPr lang="en-US" b="0" i="0" dirty="0"/>
            <a:t>No cost or revenue for correctly predicting a non-popular song.</a:t>
          </a:r>
          <a:endParaRPr lang="en-US" dirty="0"/>
        </a:p>
      </dgm:t>
    </dgm:pt>
    <dgm:pt modelId="{803DBB38-BD99-4F89-95E3-9B43384B6FAD}" type="parTrans" cxnId="{2C0EEB8D-392D-4D9F-8BA2-B3A182103C0A}">
      <dgm:prSet/>
      <dgm:spPr/>
      <dgm:t>
        <a:bodyPr/>
        <a:lstStyle/>
        <a:p>
          <a:endParaRPr lang="en-US"/>
        </a:p>
      </dgm:t>
    </dgm:pt>
    <dgm:pt modelId="{9DDF0B89-04DA-445C-A033-28DEC87CE094}" type="sibTrans" cxnId="{2C0EEB8D-392D-4D9F-8BA2-B3A182103C0A}">
      <dgm:prSet/>
      <dgm:spPr/>
      <dgm:t>
        <a:bodyPr/>
        <a:lstStyle/>
        <a:p>
          <a:endParaRPr lang="en-US"/>
        </a:p>
      </dgm:t>
    </dgm:pt>
    <dgm:pt modelId="{FE3C78A5-9826-402E-BAB4-BB9EAD3064DE}" type="pres">
      <dgm:prSet presAssocID="{54DCAEC1-B550-44C5-BF0A-D10CEBEB9BE3}" presName="root" presStyleCnt="0">
        <dgm:presLayoutVars>
          <dgm:dir/>
          <dgm:resizeHandles val="exact"/>
        </dgm:presLayoutVars>
      </dgm:prSet>
      <dgm:spPr/>
    </dgm:pt>
    <dgm:pt modelId="{4F64AF8F-BA64-46EF-8561-EA21E0B1A375}" type="pres">
      <dgm:prSet presAssocID="{0AA78046-BC29-4F14-8129-F8B429ECFDC0}" presName="compNode" presStyleCnt="0"/>
      <dgm:spPr/>
    </dgm:pt>
    <dgm:pt modelId="{67C1F499-6FBE-448F-A221-281BB26CBEC4}" type="pres">
      <dgm:prSet presAssocID="{0AA78046-BC29-4F14-8129-F8B429ECFDC0}" presName="bgRect" presStyleLbl="bgShp" presStyleIdx="0" presStyleCnt="4"/>
      <dgm:spPr>
        <a:solidFill>
          <a:schemeClr val="accent6">
            <a:lumMod val="50000"/>
          </a:schemeClr>
        </a:solidFill>
      </dgm:spPr>
    </dgm:pt>
    <dgm:pt modelId="{3A28D30C-0C09-4395-8D0E-3B0088DD3995}" type="pres">
      <dgm:prSet presAssocID="{0AA78046-BC29-4F14-8129-F8B429ECFDC0}" presName="iconRect" presStyleLbl="node1" presStyleIdx="0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1966DCE7-9D7D-49BD-8223-96D4D50B26B0}" type="pres">
      <dgm:prSet presAssocID="{0AA78046-BC29-4F14-8129-F8B429ECFDC0}" presName="spaceRect" presStyleCnt="0"/>
      <dgm:spPr/>
    </dgm:pt>
    <dgm:pt modelId="{FE432580-9727-479D-885B-93993336E1B4}" type="pres">
      <dgm:prSet presAssocID="{0AA78046-BC29-4F14-8129-F8B429ECFDC0}" presName="parTx" presStyleLbl="revTx" presStyleIdx="0" presStyleCnt="4">
        <dgm:presLayoutVars>
          <dgm:chMax val="0"/>
          <dgm:chPref val="0"/>
        </dgm:presLayoutVars>
      </dgm:prSet>
      <dgm:spPr/>
    </dgm:pt>
    <dgm:pt modelId="{B2B41A85-29E4-4052-A962-C25BCE5A2BC4}" type="pres">
      <dgm:prSet presAssocID="{9CCA7E38-E6B8-44A2-A008-FEADCE5E3E6F}" presName="sibTrans" presStyleCnt="0"/>
      <dgm:spPr/>
    </dgm:pt>
    <dgm:pt modelId="{5A311511-DE2F-4A08-89E0-226750F8AED8}" type="pres">
      <dgm:prSet presAssocID="{FE616D6D-C837-4B79-8EB2-FE02F72C632B}" presName="compNode" presStyleCnt="0"/>
      <dgm:spPr/>
    </dgm:pt>
    <dgm:pt modelId="{278569A4-936A-4442-93ED-051A29AC9F1A}" type="pres">
      <dgm:prSet presAssocID="{FE616D6D-C837-4B79-8EB2-FE02F72C632B}" presName="bgRect" presStyleLbl="bgShp" presStyleIdx="1" presStyleCnt="4"/>
      <dgm:spPr>
        <a:solidFill>
          <a:schemeClr val="accent6">
            <a:lumMod val="50000"/>
          </a:schemeClr>
        </a:solidFill>
      </dgm:spPr>
    </dgm:pt>
    <dgm:pt modelId="{7C2ACB12-F590-4AC2-9F48-8F491BF63953}" type="pres">
      <dgm:prSet presAssocID="{FE616D6D-C837-4B79-8EB2-FE02F72C632B}" presName="iconRect" presStyleLbl="node1" presStyleIdx="1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BCB3B83A-28BA-4D6E-A5B4-E7F74530622E}" type="pres">
      <dgm:prSet presAssocID="{FE616D6D-C837-4B79-8EB2-FE02F72C632B}" presName="spaceRect" presStyleCnt="0"/>
      <dgm:spPr/>
    </dgm:pt>
    <dgm:pt modelId="{14E784A5-9E0F-4A71-AB40-0B9ABD435D5C}" type="pres">
      <dgm:prSet presAssocID="{FE616D6D-C837-4B79-8EB2-FE02F72C632B}" presName="parTx" presStyleLbl="revTx" presStyleIdx="1" presStyleCnt="4">
        <dgm:presLayoutVars>
          <dgm:chMax val="0"/>
          <dgm:chPref val="0"/>
        </dgm:presLayoutVars>
      </dgm:prSet>
      <dgm:spPr/>
    </dgm:pt>
    <dgm:pt modelId="{FDC975D1-AD77-4A3D-AC8D-04A56846ED72}" type="pres">
      <dgm:prSet presAssocID="{0B20DD7F-6152-47AB-88F5-E38080F3610D}" presName="sibTrans" presStyleCnt="0"/>
      <dgm:spPr/>
    </dgm:pt>
    <dgm:pt modelId="{A3EF3657-0F17-4735-8A3B-003178476257}" type="pres">
      <dgm:prSet presAssocID="{9AA26EBE-5EFD-49B7-8D7E-95BBC71AF565}" presName="compNode" presStyleCnt="0"/>
      <dgm:spPr/>
    </dgm:pt>
    <dgm:pt modelId="{32028D64-F41E-48CA-908D-A27AFFAD2288}" type="pres">
      <dgm:prSet presAssocID="{9AA26EBE-5EFD-49B7-8D7E-95BBC71AF565}" presName="bgRect" presStyleLbl="bgShp" presStyleIdx="2" presStyleCnt="4"/>
      <dgm:spPr>
        <a:solidFill>
          <a:schemeClr val="accent6">
            <a:lumMod val="50000"/>
          </a:schemeClr>
        </a:solidFill>
      </dgm:spPr>
    </dgm:pt>
    <dgm:pt modelId="{F427D9E6-3E52-4D22-9D67-495EB267A017}" type="pres">
      <dgm:prSet presAssocID="{9AA26EBE-5EFD-49B7-8D7E-95BBC71AF565}" presName="iconRect" presStyleLbl="node1" presStyleIdx="2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5D66CB04-E1D0-4512-A2E0-A5973CB3887D}" type="pres">
      <dgm:prSet presAssocID="{9AA26EBE-5EFD-49B7-8D7E-95BBC71AF565}" presName="spaceRect" presStyleCnt="0"/>
      <dgm:spPr/>
    </dgm:pt>
    <dgm:pt modelId="{4AC48610-9E9F-4741-A3EA-EAD29288C5DF}" type="pres">
      <dgm:prSet presAssocID="{9AA26EBE-5EFD-49B7-8D7E-95BBC71AF565}" presName="parTx" presStyleLbl="revTx" presStyleIdx="2" presStyleCnt="4">
        <dgm:presLayoutVars>
          <dgm:chMax val="0"/>
          <dgm:chPref val="0"/>
        </dgm:presLayoutVars>
      </dgm:prSet>
      <dgm:spPr/>
    </dgm:pt>
    <dgm:pt modelId="{414CCB0B-9B4D-44D0-9BD9-9A5FFEB18BA0}" type="pres">
      <dgm:prSet presAssocID="{11FBD7CA-D70B-4A07-8A8F-C16596BDB382}" presName="sibTrans" presStyleCnt="0"/>
      <dgm:spPr/>
    </dgm:pt>
    <dgm:pt modelId="{9FE863E6-F829-44F0-8AD6-BC1CC3E01FFF}" type="pres">
      <dgm:prSet presAssocID="{13851B17-E635-4D86-A024-AB8B8F2A7E1D}" presName="compNode" presStyleCnt="0"/>
      <dgm:spPr/>
    </dgm:pt>
    <dgm:pt modelId="{809D4837-893D-4F75-BADC-0EF2C6FB32F5}" type="pres">
      <dgm:prSet presAssocID="{13851B17-E635-4D86-A024-AB8B8F2A7E1D}" presName="bgRect" presStyleLbl="bgShp" presStyleIdx="3" presStyleCnt="4"/>
      <dgm:spPr>
        <a:solidFill>
          <a:schemeClr val="accent6">
            <a:lumMod val="50000"/>
          </a:schemeClr>
        </a:solidFill>
      </dgm:spPr>
    </dgm:pt>
    <dgm:pt modelId="{5912DA15-B1F2-47DE-865E-B5687702F6D8}" type="pres">
      <dgm:prSet presAssocID="{13851B17-E635-4D86-A024-AB8B8F2A7E1D}" presName="iconRect" presStyleLbl="node1" presStyleIdx="3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B2F332B-B006-492F-87F4-D4CF286AF3A0}" type="pres">
      <dgm:prSet presAssocID="{13851B17-E635-4D86-A024-AB8B8F2A7E1D}" presName="spaceRect" presStyleCnt="0"/>
      <dgm:spPr/>
    </dgm:pt>
    <dgm:pt modelId="{4DFD7223-287C-4B5C-9029-FC383BE41A4B}" type="pres">
      <dgm:prSet presAssocID="{13851B17-E635-4D86-A024-AB8B8F2A7E1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A0DCE06-F064-40CE-8AA0-82C3AE4D6C05}" srcId="{54DCAEC1-B550-44C5-BF0A-D10CEBEB9BE3}" destId="{0AA78046-BC29-4F14-8129-F8B429ECFDC0}" srcOrd="0" destOrd="0" parTransId="{6EEF7F57-7BA9-4EF3-9D88-8B45234CE7B0}" sibTransId="{9CCA7E38-E6B8-44A2-A008-FEADCE5E3E6F}"/>
    <dgm:cxn modelId="{9626E43D-D68E-43A9-AD32-489FB4BC8662}" type="presOf" srcId="{13851B17-E635-4D86-A024-AB8B8F2A7E1D}" destId="{4DFD7223-287C-4B5C-9029-FC383BE41A4B}" srcOrd="0" destOrd="0" presId="urn:microsoft.com/office/officeart/2018/2/layout/IconVerticalSolidList"/>
    <dgm:cxn modelId="{09E00F68-B1F0-4588-92CA-5B8D64D481F5}" type="presOf" srcId="{9AA26EBE-5EFD-49B7-8D7E-95BBC71AF565}" destId="{4AC48610-9E9F-4741-A3EA-EAD29288C5DF}" srcOrd="0" destOrd="0" presId="urn:microsoft.com/office/officeart/2018/2/layout/IconVerticalSolidList"/>
    <dgm:cxn modelId="{1F1D674C-4245-43EF-A3CA-D3C2539D7BC8}" type="presOf" srcId="{54DCAEC1-B550-44C5-BF0A-D10CEBEB9BE3}" destId="{FE3C78A5-9826-402E-BAB4-BB9EAD3064DE}" srcOrd="0" destOrd="0" presId="urn:microsoft.com/office/officeart/2018/2/layout/IconVerticalSolidList"/>
    <dgm:cxn modelId="{A2507586-BB14-47C1-BBEF-B8B90F9609FE}" srcId="{54DCAEC1-B550-44C5-BF0A-D10CEBEB9BE3}" destId="{FE616D6D-C837-4B79-8EB2-FE02F72C632B}" srcOrd="1" destOrd="0" parTransId="{6E18EF74-D8CD-4102-B91D-6457EA95D3EA}" sibTransId="{0B20DD7F-6152-47AB-88F5-E38080F3610D}"/>
    <dgm:cxn modelId="{2C0EEB8D-392D-4D9F-8BA2-B3A182103C0A}" srcId="{54DCAEC1-B550-44C5-BF0A-D10CEBEB9BE3}" destId="{13851B17-E635-4D86-A024-AB8B8F2A7E1D}" srcOrd="3" destOrd="0" parTransId="{803DBB38-BD99-4F89-95E3-9B43384B6FAD}" sibTransId="{9DDF0B89-04DA-445C-A033-28DEC87CE094}"/>
    <dgm:cxn modelId="{885FBD94-95B9-40C0-B164-6991160E462C}" type="presOf" srcId="{FE616D6D-C837-4B79-8EB2-FE02F72C632B}" destId="{14E784A5-9E0F-4A71-AB40-0B9ABD435D5C}" srcOrd="0" destOrd="0" presId="urn:microsoft.com/office/officeart/2018/2/layout/IconVerticalSolidList"/>
    <dgm:cxn modelId="{7A2E53BA-6D43-4A6E-889C-48FD52CD3C28}" type="presOf" srcId="{0AA78046-BC29-4F14-8129-F8B429ECFDC0}" destId="{FE432580-9727-479D-885B-93993336E1B4}" srcOrd="0" destOrd="0" presId="urn:microsoft.com/office/officeart/2018/2/layout/IconVerticalSolidList"/>
    <dgm:cxn modelId="{D60AFADC-62E9-4BAE-ADF5-B03353E118FE}" srcId="{54DCAEC1-B550-44C5-BF0A-D10CEBEB9BE3}" destId="{9AA26EBE-5EFD-49B7-8D7E-95BBC71AF565}" srcOrd="2" destOrd="0" parTransId="{F5E14BEF-072B-4644-9B4C-638EA3183EBD}" sibTransId="{11FBD7CA-D70B-4A07-8A8F-C16596BDB382}"/>
    <dgm:cxn modelId="{0852B732-A6A8-4F9C-97CA-F6021778E496}" type="presParOf" srcId="{FE3C78A5-9826-402E-BAB4-BB9EAD3064DE}" destId="{4F64AF8F-BA64-46EF-8561-EA21E0B1A375}" srcOrd="0" destOrd="0" presId="urn:microsoft.com/office/officeart/2018/2/layout/IconVerticalSolidList"/>
    <dgm:cxn modelId="{067A9F1D-8C31-4932-82E9-4CFFF30DB0C1}" type="presParOf" srcId="{4F64AF8F-BA64-46EF-8561-EA21E0B1A375}" destId="{67C1F499-6FBE-448F-A221-281BB26CBEC4}" srcOrd="0" destOrd="0" presId="urn:microsoft.com/office/officeart/2018/2/layout/IconVerticalSolidList"/>
    <dgm:cxn modelId="{41D1A829-C5B1-4290-91F4-435484C1E355}" type="presParOf" srcId="{4F64AF8F-BA64-46EF-8561-EA21E0B1A375}" destId="{3A28D30C-0C09-4395-8D0E-3B0088DD3995}" srcOrd="1" destOrd="0" presId="urn:microsoft.com/office/officeart/2018/2/layout/IconVerticalSolidList"/>
    <dgm:cxn modelId="{871BE8D3-B6FF-43A6-88BE-E9D259B49394}" type="presParOf" srcId="{4F64AF8F-BA64-46EF-8561-EA21E0B1A375}" destId="{1966DCE7-9D7D-49BD-8223-96D4D50B26B0}" srcOrd="2" destOrd="0" presId="urn:microsoft.com/office/officeart/2018/2/layout/IconVerticalSolidList"/>
    <dgm:cxn modelId="{8DBED760-52B3-4615-908C-77137ED53AD8}" type="presParOf" srcId="{4F64AF8F-BA64-46EF-8561-EA21E0B1A375}" destId="{FE432580-9727-479D-885B-93993336E1B4}" srcOrd="3" destOrd="0" presId="urn:microsoft.com/office/officeart/2018/2/layout/IconVerticalSolidList"/>
    <dgm:cxn modelId="{1C144C2A-9920-4F0B-AA3D-02410EB9E11B}" type="presParOf" srcId="{FE3C78A5-9826-402E-BAB4-BB9EAD3064DE}" destId="{B2B41A85-29E4-4052-A962-C25BCE5A2BC4}" srcOrd="1" destOrd="0" presId="urn:microsoft.com/office/officeart/2018/2/layout/IconVerticalSolidList"/>
    <dgm:cxn modelId="{2A91BEA0-1486-46D4-BAD3-549F4B2E4EEA}" type="presParOf" srcId="{FE3C78A5-9826-402E-BAB4-BB9EAD3064DE}" destId="{5A311511-DE2F-4A08-89E0-226750F8AED8}" srcOrd="2" destOrd="0" presId="urn:microsoft.com/office/officeart/2018/2/layout/IconVerticalSolidList"/>
    <dgm:cxn modelId="{AE8D2332-5A53-4FB4-AA72-DB0C9BB35C76}" type="presParOf" srcId="{5A311511-DE2F-4A08-89E0-226750F8AED8}" destId="{278569A4-936A-4442-93ED-051A29AC9F1A}" srcOrd="0" destOrd="0" presId="urn:microsoft.com/office/officeart/2018/2/layout/IconVerticalSolidList"/>
    <dgm:cxn modelId="{AFA3E8EC-38E4-4319-8536-C2AAC4EE5965}" type="presParOf" srcId="{5A311511-DE2F-4A08-89E0-226750F8AED8}" destId="{7C2ACB12-F590-4AC2-9F48-8F491BF63953}" srcOrd="1" destOrd="0" presId="urn:microsoft.com/office/officeart/2018/2/layout/IconVerticalSolidList"/>
    <dgm:cxn modelId="{E6F1A2EC-5E08-4932-8441-B6986D2B2AF7}" type="presParOf" srcId="{5A311511-DE2F-4A08-89E0-226750F8AED8}" destId="{BCB3B83A-28BA-4D6E-A5B4-E7F74530622E}" srcOrd="2" destOrd="0" presId="urn:microsoft.com/office/officeart/2018/2/layout/IconVerticalSolidList"/>
    <dgm:cxn modelId="{14D7CF9C-2C44-4E38-A838-C4EF02DA2DCA}" type="presParOf" srcId="{5A311511-DE2F-4A08-89E0-226750F8AED8}" destId="{14E784A5-9E0F-4A71-AB40-0B9ABD435D5C}" srcOrd="3" destOrd="0" presId="urn:microsoft.com/office/officeart/2018/2/layout/IconVerticalSolidList"/>
    <dgm:cxn modelId="{C9A32BDC-6D34-4070-AB8E-D05C7C7758C4}" type="presParOf" srcId="{FE3C78A5-9826-402E-BAB4-BB9EAD3064DE}" destId="{FDC975D1-AD77-4A3D-AC8D-04A56846ED72}" srcOrd="3" destOrd="0" presId="urn:microsoft.com/office/officeart/2018/2/layout/IconVerticalSolidList"/>
    <dgm:cxn modelId="{54C3A087-C6B2-4C96-A27F-E3513AFDA536}" type="presParOf" srcId="{FE3C78A5-9826-402E-BAB4-BB9EAD3064DE}" destId="{A3EF3657-0F17-4735-8A3B-003178476257}" srcOrd="4" destOrd="0" presId="urn:microsoft.com/office/officeart/2018/2/layout/IconVerticalSolidList"/>
    <dgm:cxn modelId="{4FEF9396-8EBA-4BF2-8C13-98F933A89F5F}" type="presParOf" srcId="{A3EF3657-0F17-4735-8A3B-003178476257}" destId="{32028D64-F41E-48CA-908D-A27AFFAD2288}" srcOrd="0" destOrd="0" presId="urn:microsoft.com/office/officeart/2018/2/layout/IconVerticalSolidList"/>
    <dgm:cxn modelId="{F4FBC7DC-9791-4A3E-B3F8-FBF95FCEB5CB}" type="presParOf" srcId="{A3EF3657-0F17-4735-8A3B-003178476257}" destId="{F427D9E6-3E52-4D22-9D67-495EB267A017}" srcOrd="1" destOrd="0" presId="urn:microsoft.com/office/officeart/2018/2/layout/IconVerticalSolidList"/>
    <dgm:cxn modelId="{B2658D55-DE36-4C56-A915-73B4ECE41434}" type="presParOf" srcId="{A3EF3657-0F17-4735-8A3B-003178476257}" destId="{5D66CB04-E1D0-4512-A2E0-A5973CB3887D}" srcOrd="2" destOrd="0" presId="urn:microsoft.com/office/officeart/2018/2/layout/IconVerticalSolidList"/>
    <dgm:cxn modelId="{9B7F47E7-B2A7-45B7-A62B-4005BAC750D9}" type="presParOf" srcId="{A3EF3657-0F17-4735-8A3B-003178476257}" destId="{4AC48610-9E9F-4741-A3EA-EAD29288C5DF}" srcOrd="3" destOrd="0" presId="urn:microsoft.com/office/officeart/2018/2/layout/IconVerticalSolidList"/>
    <dgm:cxn modelId="{19883201-5275-48F7-BA31-2B6720B0B4F6}" type="presParOf" srcId="{FE3C78A5-9826-402E-BAB4-BB9EAD3064DE}" destId="{414CCB0B-9B4D-44D0-9BD9-9A5FFEB18BA0}" srcOrd="5" destOrd="0" presId="urn:microsoft.com/office/officeart/2018/2/layout/IconVerticalSolidList"/>
    <dgm:cxn modelId="{FCA41919-7B37-4831-AC75-EEC77BA6C21F}" type="presParOf" srcId="{FE3C78A5-9826-402E-BAB4-BB9EAD3064DE}" destId="{9FE863E6-F829-44F0-8AD6-BC1CC3E01FFF}" srcOrd="6" destOrd="0" presId="urn:microsoft.com/office/officeart/2018/2/layout/IconVerticalSolidList"/>
    <dgm:cxn modelId="{D8A848C4-9B81-4F79-9CA4-5254FB7178BF}" type="presParOf" srcId="{9FE863E6-F829-44F0-8AD6-BC1CC3E01FFF}" destId="{809D4837-893D-4F75-BADC-0EF2C6FB32F5}" srcOrd="0" destOrd="0" presId="urn:microsoft.com/office/officeart/2018/2/layout/IconVerticalSolidList"/>
    <dgm:cxn modelId="{35884F83-A2AA-4F12-B5FD-3CC5159C0176}" type="presParOf" srcId="{9FE863E6-F829-44F0-8AD6-BC1CC3E01FFF}" destId="{5912DA15-B1F2-47DE-865E-B5687702F6D8}" srcOrd="1" destOrd="0" presId="urn:microsoft.com/office/officeart/2018/2/layout/IconVerticalSolidList"/>
    <dgm:cxn modelId="{F58C9CC9-7039-4F37-9C1B-7D91E3074167}" type="presParOf" srcId="{9FE863E6-F829-44F0-8AD6-BC1CC3E01FFF}" destId="{DB2F332B-B006-492F-87F4-D4CF286AF3A0}" srcOrd="2" destOrd="0" presId="urn:microsoft.com/office/officeart/2018/2/layout/IconVerticalSolidList"/>
    <dgm:cxn modelId="{A73BAC1F-FB92-4E59-BA58-7AC9167FE7C9}" type="presParOf" srcId="{9FE863E6-F829-44F0-8AD6-BC1CC3E01FFF}" destId="{4DFD7223-287C-4B5C-9029-FC383BE41A4B}" srcOrd="3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C286B-D5C1-40C9-BE56-8109A6268FFD}">
      <dsp:nvSpPr>
        <dsp:cNvPr id="0" name=""/>
        <dsp:cNvSpPr/>
      </dsp:nvSpPr>
      <dsp:spPr>
        <a:xfrm>
          <a:off x="461183" y="588441"/>
          <a:ext cx="750673" cy="7506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B228E-96F6-41D6-BF95-3EC106AD3CBB}">
      <dsp:nvSpPr>
        <dsp:cNvPr id="0" name=""/>
        <dsp:cNvSpPr/>
      </dsp:nvSpPr>
      <dsp:spPr>
        <a:xfrm>
          <a:off x="2438" y="1772330"/>
          <a:ext cx="1668164" cy="1703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Objective: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 whether a song's popularity score exceeds 64 (i.e., popularity &gt;= 65) based on song features.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38" y="1772330"/>
        <a:ext cx="1668164" cy="1703838"/>
      </dsp:txXfrm>
    </dsp:sp>
    <dsp:sp modelId="{103EC66D-19CA-4FE5-BAB8-12F755268F49}">
      <dsp:nvSpPr>
        <dsp:cNvPr id="0" name=""/>
        <dsp:cNvSpPr/>
      </dsp:nvSpPr>
      <dsp:spPr>
        <a:xfrm>
          <a:off x="2421275" y="588441"/>
          <a:ext cx="750673" cy="7506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D2C95-9A6E-413B-A23D-A5A81AE2E95F}">
      <dsp:nvSpPr>
        <dsp:cNvPr id="0" name=""/>
        <dsp:cNvSpPr/>
      </dsp:nvSpPr>
      <dsp:spPr>
        <a:xfrm>
          <a:off x="1962530" y="1772330"/>
          <a:ext cx="1668164" cy="1703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Dataset: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Spotify song attributes like danceability, tempo, loudness, </a:t>
          </a:r>
          <a:r>
            <a:rPr lang="en-US" sz="1600" b="0" i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speechiness</a:t>
          </a: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br>
            <a:rPr lang="en-US" sz="1400" b="0" i="0" kern="1200" dirty="0"/>
          </a:br>
          <a:endParaRPr lang="en-US" sz="1400" kern="1200" dirty="0"/>
        </a:p>
      </dsp:txBody>
      <dsp:txXfrm>
        <a:off x="1962530" y="1772330"/>
        <a:ext cx="1668164" cy="1703838"/>
      </dsp:txXfrm>
    </dsp:sp>
    <dsp:sp modelId="{8A98AD7B-B30C-4417-ADF7-F03D3343B1F4}">
      <dsp:nvSpPr>
        <dsp:cNvPr id="0" name=""/>
        <dsp:cNvSpPr/>
      </dsp:nvSpPr>
      <dsp:spPr>
        <a:xfrm>
          <a:off x="4381368" y="588441"/>
          <a:ext cx="750673" cy="7506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2E5A5-D80F-476B-BD83-DB889CC9C38B}">
      <dsp:nvSpPr>
        <dsp:cNvPr id="0" name=""/>
        <dsp:cNvSpPr/>
      </dsp:nvSpPr>
      <dsp:spPr>
        <a:xfrm>
          <a:off x="3922623" y="1772330"/>
          <a:ext cx="1668164" cy="1703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Target Variable: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Binary classification → Popular (1) vs Not Popular (0).</a:t>
          </a:r>
          <a:b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22623" y="1772330"/>
        <a:ext cx="1668164" cy="1703838"/>
      </dsp:txXfrm>
    </dsp:sp>
    <dsp:sp modelId="{F50CC110-BD05-4A29-8818-C9BF7A433021}">
      <dsp:nvSpPr>
        <dsp:cNvPr id="0" name=""/>
        <dsp:cNvSpPr/>
      </dsp:nvSpPr>
      <dsp:spPr>
        <a:xfrm>
          <a:off x="6341461" y="588441"/>
          <a:ext cx="750673" cy="75067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E1283-CAD0-4D07-A689-A3913A8C7E35}">
      <dsp:nvSpPr>
        <dsp:cNvPr id="0" name=""/>
        <dsp:cNvSpPr/>
      </dsp:nvSpPr>
      <dsp:spPr>
        <a:xfrm>
          <a:off x="5882716" y="1772330"/>
          <a:ext cx="1668164" cy="1703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Approach: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Develop and compare three models: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KNN, Decision Tree, Logistic Regression.</a:t>
          </a:r>
          <a:br>
            <a:rPr lang="en-US" sz="16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82716" y="1772330"/>
        <a:ext cx="1668164" cy="1703838"/>
      </dsp:txXfrm>
    </dsp:sp>
    <dsp:sp modelId="{2DE794F3-9287-4CDF-B901-E87C2DE6E560}">
      <dsp:nvSpPr>
        <dsp:cNvPr id="0" name=""/>
        <dsp:cNvSpPr/>
      </dsp:nvSpPr>
      <dsp:spPr>
        <a:xfrm>
          <a:off x="8301554" y="588441"/>
          <a:ext cx="750673" cy="75067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D35076-8A86-4663-9505-5E669469D4A5}">
      <dsp:nvSpPr>
        <dsp:cNvPr id="0" name=""/>
        <dsp:cNvSpPr/>
      </dsp:nvSpPr>
      <dsp:spPr>
        <a:xfrm>
          <a:off x="7842809" y="1772330"/>
          <a:ext cx="1668164" cy="1703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Choose the best model based on accuracy and cross-validation if needed.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842809" y="1772330"/>
        <a:ext cx="1668164" cy="1703838"/>
      </dsp:txXfrm>
    </dsp:sp>
    <dsp:sp modelId="{B1C2B749-B0E7-45CF-83F8-FBE1664CC5F1}">
      <dsp:nvSpPr>
        <dsp:cNvPr id="0" name=""/>
        <dsp:cNvSpPr/>
      </dsp:nvSpPr>
      <dsp:spPr>
        <a:xfrm>
          <a:off x="10261647" y="588441"/>
          <a:ext cx="750673" cy="75067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61FB2-5ED6-486F-8A6D-6CAFEDB869D7}">
      <dsp:nvSpPr>
        <dsp:cNvPr id="0" name=""/>
        <dsp:cNvSpPr/>
      </dsp:nvSpPr>
      <dsp:spPr>
        <a:xfrm>
          <a:off x="9802901" y="1772330"/>
          <a:ext cx="1668164" cy="1703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Provide managerial insights for promoting more engaging songs. 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802901" y="1772330"/>
        <a:ext cx="1668164" cy="17038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C29B0-4034-44EC-87AD-FA259C3519D4}">
      <dsp:nvSpPr>
        <dsp:cNvPr id="0" name=""/>
        <dsp:cNvSpPr/>
      </dsp:nvSpPr>
      <dsp:spPr>
        <a:xfrm>
          <a:off x="1902120" y="438782"/>
          <a:ext cx="3375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7546" y="4572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1689" y="482660"/>
        <a:ext cx="18407" cy="3685"/>
      </dsp:txXfrm>
    </dsp:sp>
    <dsp:sp modelId="{5EBB7115-4E7D-4FF0-9FD1-0BB265B2428B}">
      <dsp:nvSpPr>
        <dsp:cNvPr id="0" name=""/>
        <dsp:cNvSpPr/>
      </dsp:nvSpPr>
      <dsp:spPr>
        <a:xfrm>
          <a:off x="303284" y="4311"/>
          <a:ext cx="1600635" cy="960381"/>
        </a:xfrm>
        <a:prstGeom prst="rect">
          <a:avLst/>
        </a:prstGeom>
        <a:solidFill>
          <a:schemeClr val="accent6">
            <a:lumMod val="5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solidFill>
                <a:schemeClr val="bg1"/>
              </a:solidFill>
            </a:rPr>
            <a:t>Model Comparison</a:t>
          </a:r>
          <a:r>
            <a:rPr lang="en-US" sz="1200" b="0" i="0" kern="1200" dirty="0">
              <a:solidFill>
                <a:schemeClr val="bg1"/>
              </a:solidFill>
            </a:rPr>
            <a:t>:</a:t>
          </a:r>
          <a:endParaRPr lang="en-US" sz="1200" kern="1200" dirty="0">
            <a:solidFill>
              <a:schemeClr val="bg1"/>
            </a:solidFill>
          </a:endParaRPr>
        </a:p>
      </dsp:txBody>
      <dsp:txXfrm>
        <a:off x="303284" y="4311"/>
        <a:ext cx="1600635" cy="960381"/>
      </dsp:txXfrm>
    </dsp:sp>
    <dsp:sp modelId="{FD5DCDC4-F862-4265-80AD-EF786226B5DB}">
      <dsp:nvSpPr>
        <dsp:cNvPr id="0" name=""/>
        <dsp:cNvSpPr/>
      </dsp:nvSpPr>
      <dsp:spPr>
        <a:xfrm>
          <a:off x="3870901" y="438782"/>
          <a:ext cx="3375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7546" y="4572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0471" y="482660"/>
        <a:ext cx="18407" cy="3685"/>
      </dsp:txXfrm>
    </dsp:sp>
    <dsp:sp modelId="{8C31C9C9-DC8B-4CE6-ABBF-111D07468780}">
      <dsp:nvSpPr>
        <dsp:cNvPr id="0" name=""/>
        <dsp:cNvSpPr/>
      </dsp:nvSpPr>
      <dsp:spPr>
        <a:xfrm>
          <a:off x="2272066" y="4311"/>
          <a:ext cx="1600635" cy="960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KNN</a:t>
          </a:r>
          <a:r>
            <a:rPr lang="en-US" sz="1200" b="0" i="0" kern="1200"/>
            <a:t>: Moderate accuracy (~58%), sensitive to noisy features.</a:t>
          </a:r>
          <a:endParaRPr lang="en-US" sz="1200" kern="1200"/>
        </a:p>
      </dsp:txBody>
      <dsp:txXfrm>
        <a:off x="2272066" y="4311"/>
        <a:ext cx="1600635" cy="960381"/>
      </dsp:txXfrm>
    </dsp:sp>
    <dsp:sp modelId="{FF007059-9CAF-4034-B1FC-C32620D0CB0E}">
      <dsp:nvSpPr>
        <dsp:cNvPr id="0" name=""/>
        <dsp:cNvSpPr/>
      </dsp:nvSpPr>
      <dsp:spPr>
        <a:xfrm>
          <a:off x="1103602" y="962893"/>
          <a:ext cx="3937563" cy="337546"/>
        </a:xfrm>
        <a:custGeom>
          <a:avLst/>
          <a:gdLst/>
          <a:ahLst/>
          <a:cxnLst/>
          <a:rect l="0" t="0" r="0" b="0"/>
          <a:pathLst>
            <a:path>
              <a:moveTo>
                <a:pt x="3937563" y="0"/>
              </a:moveTo>
              <a:lnTo>
                <a:pt x="3937563" y="185873"/>
              </a:lnTo>
              <a:lnTo>
                <a:pt x="0" y="185873"/>
              </a:lnTo>
              <a:lnTo>
                <a:pt x="0" y="337546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73515" y="1129823"/>
        <a:ext cx="197736" cy="3685"/>
      </dsp:txXfrm>
    </dsp:sp>
    <dsp:sp modelId="{5CE41179-1CE8-4D47-96F7-C5D28BBFDF33}">
      <dsp:nvSpPr>
        <dsp:cNvPr id="0" name=""/>
        <dsp:cNvSpPr/>
      </dsp:nvSpPr>
      <dsp:spPr>
        <a:xfrm>
          <a:off x="4240847" y="4311"/>
          <a:ext cx="1600635" cy="960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Decision Tree</a:t>
          </a:r>
          <a:r>
            <a:rPr lang="en-US" sz="1200" b="0" i="0" kern="1200" dirty="0"/>
            <a:t>: Overfit, poor generalization (Test Accuracy ~56%).</a:t>
          </a:r>
          <a:endParaRPr lang="en-US" sz="1200" kern="1200" dirty="0"/>
        </a:p>
      </dsp:txBody>
      <dsp:txXfrm>
        <a:off x="4240847" y="4311"/>
        <a:ext cx="1600635" cy="960381"/>
      </dsp:txXfrm>
    </dsp:sp>
    <dsp:sp modelId="{4EC29C69-A944-45CC-BDA3-0F668B0A12F0}">
      <dsp:nvSpPr>
        <dsp:cNvPr id="0" name=""/>
        <dsp:cNvSpPr/>
      </dsp:nvSpPr>
      <dsp:spPr>
        <a:xfrm>
          <a:off x="1902120" y="1767310"/>
          <a:ext cx="3375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7546" y="4572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1689" y="1811187"/>
        <a:ext cx="18407" cy="3685"/>
      </dsp:txXfrm>
    </dsp:sp>
    <dsp:sp modelId="{B8DE8D4A-5A67-4DB4-BB6B-6568D80ACFAB}">
      <dsp:nvSpPr>
        <dsp:cNvPr id="0" name=""/>
        <dsp:cNvSpPr/>
      </dsp:nvSpPr>
      <dsp:spPr>
        <a:xfrm>
          <a:off x="303284" y="1332839"/>
          <a:ext cx="1600635" cy="960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Logistic Regression</a:t>
          </a:r>
          <a:r>
            <a:rPr lang="en-US" sz="1200" b="0" i="0" kern="1200" dirty="0"/>
            <a:t>: Best generalization (Test Accuracy ~58%-59%), stable across folds. </a:t>
          </a:r>
          <a:endParaRPr lang="en-US" sz="1200" kern="1200" dirty="0"/>
        </a:p>
      </dsp:txBody>
      <dsp:txXfrm>
        <a:off x="303284" y="1332839"/>
        <a:ext cx="1600635" cy="960381"/>
      </dsp:txXfrm>
    </dsp:sp>
    <dsp:sp modelId="{3604780C-50EB-4DE2-BBCE-B01850ABDA8E}">
      <dsp:nvSpPr>
        <dsp:cNvPr id="0" name=""/>
        <dsp:cNvSpPr/>
      </dsp:nvSpPr>
      <dsp:spPr>
        <a:xfrm>
          <a:off x="3870901" y="1767310"/>
          <a:ext cx="3375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7546" y="4572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0471" y="1811187"/>
        <a:ext cx="18407" cy="3685"/>
      </dsp:txXfrm>
    </dsp:sp>
    <dsp:sp modelId="{C7CB333E-7E9A-41EF-9D81-F4A1F8F8819C}">
      <dsp:nvSpPr>
        <dsp:cNvPr id="0" name=""/>
        <dsp:cNvSpPr/>
      </dsp:nvSpPr>
      <dsp:spPr>
        <a:xfrm>
          <a:off x="2272066" y="1332839"/>
          <a:ext cx="1600635" cy="960381"/>
        </a:xfrm>
        <a:prstGeom prst="rect">
          <a:avLst/>
        </a:prstGeom>
        <a:solidFill>
          <a:schemeClr val="accent6">
            <a:lumMod val="5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solidFill>
                <a:schemeClr val="bg1"/>
              </a:solidFill>
            </a:rPr>
            <a:t>Final Choice</a:t>
          </a:r>
          <a:r>
            <a:rPr lang="en-US" sz="1200" b="0" i="0" kern="1200" dirty="0">
              <a:solidFill>
                <a:schemeClr val="bg1"/>
              </a:solidFill>
            </a:rPr>
            <a:t>:</a:t>
          </a:r>
          <a:br>
            <a:rPr lang="en-US" sz="1200" b="0" i="0" kern="1200" dirty="0">
              <a:solidFill>
                <a:schemeClr val="bg1"/>
              </a:solidFill>
            </a:rPr>
          </a:br>
          <a:r>
            <a:rPr lang="en-US" sz="1200" b="1" i="0" kern="1200" dirty="0">
              <a:solidFill>
                <a:schemeClr val="bg1"/>
              </a:solidFill>
            </a:rPr>
            <a:t>Logistic Regression</a:t>
          </a:r>
          <a:r>
            <a:rPr lang="en-US" sz="1200" b="0" i="0" kern="1200" dirty="0">
              <a:solidFill>
                <a:schemeClr val="bg1"/>
              </a:solidFill>
            </a:rPr>
            <a:t> selected because:</a:t>
          </a:r>
          <a:endParaRPr lang="en-US" sz="1200" kern="1200" dirty="0">
            <a:solidFill>
              <a:schemeClr val="bg1"/>
            </a:solidFill>
          </a:endParaRPr>
        </a:p>
      </dsp:txBody>
      <dsp:txXfrm>
        <a:off x="2272066" y="1332839"/>
        <a:ext cx="1600635" cy="960381"/>
      </dsp:txXfrm>
    </dsp:sp>
    <dsp:sp modelId="{711543C4-8A9A-48D2-A867-85B00FC97DE8}">
      <dsp:nvSpPr>
        <dsp:cNvPr id="0" name=""/>
        <dsp:cNvSpPr/>
      </dsp:nvSpPr>
      <dsp:spPr>
        <a:xfrm>
          <a:off x="1103602" y="2291420"/>
          <a:ext cx="3937563" cy="337546"/>
        </a:xfrm>
        <a:custGeom>
          <a:avLst/>
          <a:gdLst/>
          <a:ahLst/>
          <a:cxnLst/>
          <a:rect l="0" t="0" r="0" b="0"/>
          <a:pathLst>
            <a:path>
              <a:moveTo>
                <a:pt x="3937563" y="0"/>
              </a:moveTo>
              <a:lnTo>
                <a:pt x="3937563" y="185873"/>
              </a:lnTo>
              <a:lnTo>
                <a:pt x="0" y="185873"/>
              </a:lnTo>
              <a:lnTo>
                <a:pt x="0" y="337546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73515" y="2458351"/>
        <a:ext cx="197736" cy="3685"/>
      </dsp:txXfrm>
    </dsp:sp>
    <dsp:sp modelId="{3AA61EF0-811E-4C65-820E-CDB61EC6294C}">
      <dsp:nvSpPr>
        <dsp:cNvPr id="0" name=""/>
        <dsp:cNvSpPr/>
      </dsp:nvSpPr>
      <dsp:spPr>
        <a:xfrm>
          <a:off x="4240847" y="1332839"/>
          <a:ext cx="1600635" cy="960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It achieved </a:t>
          </a:r>
          <a:r>
            <a:rPr lang="en-US" sz="1200" b="1" i="0" kern="1200" dirty="0"/>
            <a:t>highest cross-validation accuracy</a:t>
          </a:r>
          <a:r>
            <a:rPr lang="en-US" sz="1200" b="0" i="0" kern="1200" dirty="0"/>
            <a:t> (59.8%).</a:t>
          </a:r>
          <a:endParaRPr lang="en-US" sz="1200" kern="1200" dirty="0"/>
        </a:p>
      </dsp:txBody>
      <dsp:txXfrm>
        <a:off x="4240847" y="1332839"/>
        <a:ext cx="1600635" cy="960381"/>
      </dsp:txXfrm>
    </dsp:sp>
    <dsp:sp modelId="{E00C172C-CBFD-4E9B-AE4F-834B70A5AFF4}">
      <dsp:nvSpPr>
        <dsp:cNvPr id="0" name=""/>
        <dsp:cNvSpPr/>
      </dsp:nvSpPr>
      <dsp:spPr>
        <a:xfrm>
          <a:off x="1902120" y="3095837"/>
          <a:ext cx="3375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7546" y="4572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1689" y="3139715"/>
        <a:ext cx="18407" cy="3685"/>
      </dsp:txXfrm>
    </dsp:sp>
    <dsp:sp modelId="{F2A25D59-F00F-4DB6-9E70-E55D64FBEFF1}">
      <dsp:nvSpPr>
        <dsp:cNvPr id="0" name=""/>
        <dsp:cNvSpPr/>
      </dsp:nvSpPr>
      <dsp:spPr>
        <a:xfrm>
          <a:off x="303284" y="2661367"/>
          <a:ext cx="1600635" cy="960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More stable and interpretable.</a:t>
          </a:r>
          <a:endParaRPr lang="en-US" sz="1200" kern="1200" dirty="0"/>
        </a:p>
      </dsp:txBody>
      <dsp:txXfrm>
        <a:off x="303284" y="2661367"/>
        <a:ext cx="1600635" cy="960381"/>
      </dsp:txXfrm>
    </dsp:sp>
    <dsp:sp modelId="{116EF4EF-1B24-432F-97BE-55DFA0065D50}">
      <dsp:nvSpPr>
        <dsp:cNvPr id="0" name=""/>
        <dsp:cNvSpPr/>
      </dsp:nvSpPr>
      <dsp:spPr>
        <a:xfrm>
          <a:off x="3870901" y="3095837"/>
          <a:ext cx="3375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7546" y="4572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0471" y="3139715"/>
        <a:ext cx="18407" cy="3685"/>
      </dsp:txXfrm>
    </dsp:sp>
    <dsp:sp modelId="{2C0DD129-65A6-43E6-A25A-4E161825D311}">
      <dsp:nvSpPr>
        <dsp:cNvPr id="0" name=""/>
        <dsp:cNvSpPr/>
      </dsp:nvSpPr>
      <dsp:spPr>
        <a:xfrm>
          <a:off x="2272066" y="2661367"/>
          <a:ext cx="1600635" cy="960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Less sensitive to noise compared to KNN and Decision Trees.</a:t>
          </a:r>
          <a:endParaRPr lang="en-US" sz="1200" kern="1200"/>
        </a:p>
      </dsp:txBody>
      <dsp:txXfrm>
        <a:off x="2272066" y="2661367"/>
        <a:ext cx="1600635" cy="960381"/>
      </dsp:txXfrm>
    </dsp:sp>
    <dsp:sp modelId="{0309D0B1-7C43-40DB-B07F-B95E6670855C}">
      <dsp:nvSpPr>
        <dsp:cNvPr id="0" name=""/>
        <dsp:cNvSpPr/>
      </dsp:nvSpPr>
      <dsp:spPr>
        <a:xfrm>
          <a:off x="1103602" y="3619948"/>
          <a:ext cx="3937563" cy="374852"/>
        </a:xfrm>
        <a:custGeom>
          <a:avLst/>
          <a:gdLst/>
          <a:ahLst/>
          <a:cxnLst/>
          <a:rect l="0" t="0" r="0" b="0"/>
          <a:pathLst>
            <a:path>
              <a:moveTo>
                <a:pt x="3937563" y="0"/>
              </a:moveTo>
              <a:lnTo>
                <a:pt x="3937563" y="204526"/>
              </a:lnTo>
              <a:lnTo>
                <a:pt x="0" y="204526"/>
              </a:lnTo>
              <a:lnTo>
                <a:pt x="0" y="374852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73424" y="3805532"/>
        <a:ext cx="197919" cy="3685"/>
      </dsp:txXfrm>
    </dsp:sp>
    <dsp:sp modelId="{DB8E42E7-25B6-4DEA-83BD-101115C06627}">
      <dsp:nvSpPr>
        <dsp:cNvPr id="0" name=""/>
        <dsp:cNvSpPr/>
      </dsp:nvSpPr>
      <dsp:spPr>
        <a:xfrm>
          <a:off x="4240847" y="2661367"/>
          <a:ext cx="1600635" cy="960381"/>
        </a:xfrm>
        <a:prstGeom prst="rect">
          <a:avLst/>
        </a:prstGeom>
        <a:solidFill>
          <a:schemeClr val="accent6">
            <a:lumMod val="5000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solidFill>
                <a:schemeClr val="bg1"/>
              </a:solidFill>
            </a:rPr>
            <a:t>Managerial Insights</a:t>
          </a:r>
          <a:r>
            <a:rPr lang="en-US" sz="1200" b="0" i="0" kern="1200" dirty="0">
              <a:solidFill>
                <a:schemeClr val="bg1"/>
              </a:solidFill>
            </a:rPr>
            <a:t>:</a:t>
          </a:r>
          <a:endParaRPr lang="en-US" sz="1200" kern="1200" dirty="0">
            <a:solidFill>
              <a:schemeClr val="bg1"/>
            </a:solidFill>
          </a:endParaRPr>
        </a:p>
      </dsp:txBody>
      <dsp:txXfrm>
        <a:off x="4240847" y="2661367"/>
        <a:ext cx="1600635" cy="960381"/>
      </dsp:txXfrm>
    </dsp:sp>
    <dsp:sp modelId="{9CBB557D-102D-4F2D-A55D-8CB4B8FD3B2D}">
      <dsp:nvSpPr>
        <dsp:cNvPr id="0" name=""/>
        <dsp:cNvSpPr/>
      </dsp:nvSpPr>
      <dsp:spPr>
        <a:xfrm>
          <a:off x="1902120" y="4461671"/>
          <a:ext cx="3375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7546" y="4572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1689" y="4505548"/>
        <a:ext cx="18407" cy="3685"/>
      </dsp:txXfrm>
    </dsp:sp>
    <dsp:sp modelId="{B91D8760-8381-4470-9DE1-326B90A017D3}">
      <dsp:nvSpPr>
        <dsp:cNvPr id="0" name=""/>
        <dsp:cNvSpPr/>
      </dsp:nvSpPr>
      <dsp:spPr>
        <a:xfrm>
          <a:off x="303284" y="4027200"/>
          <a:ext cx="1600635" cy="9603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Focus on promoting songs with higher </a:t>
          </a:r>
          <a:r>
            <a:rPr lang="en-US" sz="1200" b="1" i="0" kern="1200" dirty="0"/>
            <a:t>danceability</a:t>
          </a:r>
          <a:r>
            <a:rPr lang="en-US" sz="1200" b="0" i="0" kern="1200" dirty="0"/>
            <a:t>, </a:t>
          </a:r>
          <a:r>
            <a:rPr lang="en-US" sz="1200" b="1" i="0" kern="1200" dirty="0"/>
            <a:t>tempo</a:t>
          </a:r>
          <a:r>
            <a:rPr lang="en-US" sz="1200" b="0" i="0" kern="1200" dirty="0"/>
            <a:t>, </a:t>
          </a:r>
          <a:r>
            <a:rPr lang="en-US" sz="1200" b="1" i="0" kern="1200" dirty="0"/>
            <a:t>energy</a:t>
          </a:r>
          <a:r>
            <a:rPr lang="en-US" sz="1200" b="0" i="0" kern="1200" dirty="0"/>
            <a:t>, and </a:t>
          </a:r>
          <a:r>
            <a:rPr lang="en-US" sz="1200" b="1" i="0" kern="1200" dirty="0"/>
            <a:t>loudness</a:t>
          </a:r>
          <a:r>
            <a:rPr lang="en-US" sz="1200" b="0" i="0" kern="1200" dirty="0"/>
            <a:t>.</a:t>
          </a:r>
          <a:endParaRPr lang="en-US" sz="1200" kern="1200" dirty="0"/>
        </a:p>
      </dsp:txBody>
      <dsp:txXfrm>
        <a:off x="303284" y="4027200"/>
        <a:ext cx="1600635" cy="960381"/>
      </dsp:txXfrm>
    </dsp:sp>
    <dsp:sp modelId="{B43AAEA6-77E1-4619-922E-8F696D7DB236}">
      <dsp:nvSpPr>
        <dsp:cNvPr id="0" name=""/>
        <dsp:cNvSpPr/>
      </dsp:nvSpPr>
      <dsp:spPr>
        <a:xfrm>
          <a:off x="2272066" y="3989894"/>
          <a:ext cx="2107700" cy="10349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32" tIns="82329" rIns="78432" bIns="8232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These features have positive association with higher popularity (based on Logistic Regression odds ratios).</a:t>
          </a:r>
          <a:endParaRPr lang="en-US" sz="1200" kern="1200" dirty="0"/>
        </a:p>
      </dsp:txBody>
      <dsp:txXfrm>
        <a:off x="2272066" y="3989894"/>
        <a:ext cx="2107700" cy="10349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1F499-6FBE-448F-A221-281BB26CBEC4}">
      <dsp:nvSpPr>
        <dsp:cNvPr id="0" name=""/>
        <dsp:cNvSpPr/>
      </dsp:nvSpPr>
      <dsp:spPr>
        <a:xfrm>
          <a:off x="0" y="2087"/>
          <a:ext cx="6144767" cy="1057900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28D30C-0C09-4395-8D0E-3B0088DD3995}">
      <dsp:nvSpPr>
        <dsp:cNvPr id="0" name=""/>
        <dsp:cNvSpPr/>
      </dsp:nvSpPr>
      <dsp:spPr>
        <a:xfrm>
          <a:off x="320014" y="240114"/>
          <a:ext cx="581845" cy="581845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32580-9727-479D-885B-93993336E1B4}">
      <dsp:nvSpPr>
        <dsp:cNvPr id="0" name=""/>
        <dsp:cNvSpPr/>
      </dsp:nvSpPr>
      <dsp:spPr>
        <a:xfrm>
          <a:off x="1221874" y="2087"/>
          <a:ext cx="4922893" cy="1057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61" tIns="111961" rIns="111961" bIns="11196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Revenue for Correct Prediction (Popular Song): +$1,000</a:t>
          </a:r>
          <a:br>
            <a:rPr lang="en-US" sz="1500" b="0" i="0" kern="1200" dirty="0"/>
          </a:br>
          <a:br>
            <a:rPr lang="en-US" sz="1500" b="0" i="0" kern="1200" dirty="0"/>
          </a:br>
          <a:endParaRPr lang="en-US" sz="1500" kern="1200" dirty="0"/>
        </a:p>
      </dsp:txBody>
      <dsp:txXfrm>
        <a:off x="1221874" y="2087"/>
        <a:ext cx="4922893" cy="1057900"/>
      </dsp:txXfrm>
    </dsp:sp>
    <dsp:sp modelId="{278569A4-936A-4442-93ED-051A29AC9F1A}">
      <dsp:nvSpPr>
        <dsp:cNvPr id="0" name=""/>
        <dsp:cNvSpPr/>
      </dsp:nvSpPr>
      <dsp:spPr>
        <a:xfrm>
          <a:off x="0" y="1324462"/>
          <a:ext cx="6144767" cy="1057900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2ACB12-F590-4AC2-9F48-8F491BF63953}">
      <dsp:nvSpPr>
        <dsp:cNvPr id="0" name=""/>
        <dsp:cNvSpPr/>
      </dsp:nvSpPr>
      <dsp:spPr>
        <a:xfrm>
          <a:off x="320014" y="1562489"/>
          <a:ext cx="581845" cy="581845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784A5-9E0F-4A71-AB40-0B9ABD435D5C}">
      <dsp:nvSpPr>
        <dsp:cNvPr id="0" name=""/>
        <dsp:cNvSpPr/>
      </dsp:nvSpPr>
      <dsp:spPr>
        <a:xfrm>
          <a:off x="1221874" y="1324462"/>
          <a:ext cx="4922893" cy="1057900"/>
        </a:xfrm>
        <a:prstGeom prst="rect">
          <a:avLst/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61" tIns="111961" rIns="111961" bIns="11196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Cost for False Positive (Non-Popular predicted as Popular): –$700</a:t>
          </a:r>
          <a:br>
            <a:rPr lang="en-US" sz="1500" b="0" i="0" kern="1200" dirty="0"/>
          </a:br>
          <a:br>
            <a:rPr lang="en-US" sz="1500" b="0" i="0" kern="1200" dirty="0"/>
          </a:br>
          <a:endParaRPr lang="en-US" sz="1500" kern="1200" dirty="0"/>
        </a:p>
      </dsp:txBody>
      <dsp:txXfrm>
        <a:off x="1221874" y="1324462"/>
        <a:ext cx="4922893" cy="1057900"/>
      </dsp:txXfrm>
    </dsp:sp>
    <dsp:sp modelId="{32028D64-F41E-48CA-908D-A27AFFAD2288}">
      <dsp:nvSpPr>
        <dsp:cNvPr id="0" name=""/>
        <dsp:cNvSpPr/>
      </dsp:nvSpPr>
      <dsp:spPr>
        <a:xfrm>
          <a:off x="0" y="2646837"/>
          <a:ext cx="6144767" cy="1057900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7D9E6-3E52-4D22-9D67-495EB267A017}">
      <dsp:nvSpPr>
        <dsp:cNvPr id="0" name=""/>
        <dsp:cNvSpPr/>
      </dsp:nvSpPr>
      <dsp:spPr>
        <a:xfrm>
          <a:off x="320014" y="2884865"/>
          <a:ext cx="581845" cy="581845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48610-9E9F-4741-A3EA-EAD29288C5DF}">
      <dsp:nvSpPr>
        <dsp:cNvPr id="0" name=""/>
        <dsp:cNvSpPr/>
      </dsp:nvSpPr>
      <dsp:spPr>
        <a:xfrm>
          <a:off x="1221874" y="2646837"/>
          <a:ext cx="4922893" cy="1057900"/>
        </a:xfrm>
        <a:prstGeom prst="rect">
          <a:avLst/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61" tIns="111961" rIns="111961" bIns="11196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Cost for False Negative (Popular predicted as Non-Popular): –$900</a:t>
          </a:r>
          <a:br>
            <a:rPr lang="en-US" sz="1500" b="0" i="0" kern="1200" dirty="0"/>
          </a:br>
          <a:br>
            <a:rPr lang="en-US" sz="1500" b="0" i="0" kern="1200" dirty="0"/>
          </a:br>
          <a:endParaRPr lang="en-US" sz="1500" kern="1200" dirty="0"/>
        </a:p>
      </dsp:txBody>
      <dsp:txXfrm>
        <a:off x="1221874" y="2646837"/>
        <a:ext cx="4922893" cy="1057900"/>
      </dsp:txXfrm>
    </dsp:sp>
    <dsp:sp modelId="{809D4837-893D-4F75-BADC-0EF2C6FB32F5}">
      <dsp:nvSpPr>
        <dsp:cNvPr id="0" name=""/>
        <dsp:cNvSpPr/>
      </dsp:nvSpPr>
      <dsp:spPr>
        <a:xfrm>
          <a:off x="0" y="3969212"/>
          <a:ext cx="6144767" cy="1057900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12DA15-B1F2-47DE-865E-B5687702F6D8}">
      <dsp:nvSpPr>
        <dsp:cNvPr id="0" name=""/>
        <dsp:cNvSpPr/>
      </dsp:nvSpPr>
      <dsp:spPr>
        <a:xfrm>
          <a:off x="320014" y="4207240"/>
          <a:ext cx="581845" cy="5818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D7223-287C-4B5C-9029-FC383BE41A4B}">
      <dsp:nvSpPr>
        <dsp:cNvPr id="0" name=""/>
        <dsp:cNvSpPr/>
      </dsp:nvSpPr>
      <dsp:spPr>
        <a:xfrm>
          <a:off x="1221874" y="3969212"/>
          <a:ext cx="4922893" cy="1057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61" tIns="111961" rIns="111961" bIns="11196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No cost or revenue for correctly predicting a non-popular song.</a:t>
          </a:r>
          <a:endParaRPr lang="en-US" sz="1500" kern="1200" dirty="0"/>
        </a:p>
      </dsp:txBody>
      <dsp:txXfrm>
        <a:off x="1221874" y="3969212"/>
        <a:ext cx="4922893" cy="1057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9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94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9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0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1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3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43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55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A203A-C75B-5E26-E623-57AFB9703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26479" cy="3471672"/>
          </a:xfrm>
        </p:spPr>
        <p:txBody>
          <a:bodyPr anchor="t">
            <a:normAutofit fontScale="90000"/>
          </a:bodyPr>
          <a:lstStyle/>
          <a:p>
            <a:pPr indent="457200" algn="ctr" rtl="0">
              <a:lnSpc>
                <a:spcPct val="90000"/>
              </a:lnSpc>
              <a:spcAft>
                <a:spcPts val="800"/>
              </a:spcAft>
              <a:buNone/>
            </a:pPr>
            <a: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SPOTIFY SONG POPULARITY PREDICTION AND RECOMMENDATION OPTIMIZATION</a:t>
            </a: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 648 – BUSINESS DATA ANALYTICS</a:t>
            </a: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2:</a:t>
            </a:r>
            <a:b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Aakash Kathirvel</a:t>
            </a:r>
            <a:b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Chandhini Kerachan Muraleedharan</a:t>
            </a:r>
            <a:b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Matt Ferguson</a:t>
            </a:r>
            <a:b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Milan Chaudhari</a:t>
            </a:r>
            <a:br>
              <a:rPr lang="en-IN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/>
            </a:br>
            <a:br>
              <a:rPr lang="en-US" sz="1800" b="0" dirty="0">
                <a:effectLst/>
              </a:rPr>
            </a:br>
            <a:br>
              <a:rPr lang="en-US" sz="1800" dirty="0"/>
            </a:br>
            <a:endParaRPr lang="en-IN" sz="1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70D10B-6EA2-89DB-412E-A83B81393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video&#10;&#10;AI-generated content may be incorrect.">
            <a:extLst>
              <a:ext uri="{FF2B5EF4-FFF2-40B4-BE49-F238E27FC236}">
                <a16:creationId xmlns:a16="http://schemas.microsoft.com/office/drawing/2014/main" id="{96238792-963C-8E94-3F7B-4417B80EB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674" y="657369"/>
            <a:ext cx="3899322" cy="552297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0301BA4-10E6-44CC-9EEC-727EDF3BC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1513" y="6300216"/>
            <a:ext cx="452183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Music Notes">
            <a:extLst>
              <a:ext uri="{FF2B5EF4-FFF2-40B4-BE49-F238E27FC236}">
                <a16:creationId xmlns:a16="http://schemas.microsoft.com/office/drawing/2014/main" id="{81A689A9-F3BA-AF17-7E6F-0D579D7EA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24326" y="3098410"/>
            <a:ext cx="1351670" cy="135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90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E91D-F240-FDA2-C2D9-5021CE24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buNone/>
            </a:pPr>
            <a:r>
              <a:rPr lang="en-IN" dirty="0"/>
              <a:t>Introduction and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4EEB0-28C7-5EFE-0B28-875CC1FE4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112264"/>
            <a:ext cx="5574792" cy="3767328"/>
          </a:xfrm>
        </p:spPr>
        <p:txBody>
          <a:bodyPr>
            <a:normAutofit fontScale="92500" lnSpcReduction="20000"/>
          </a:bodyPr>
          <a:lstStyle/>
          <a:p>
            <a:pPr rtl="0">
              <a:spcAft>
                <a:spcPts val="12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Client: </a:t>
            </a:r>
            <a:r>
              <a:rPr lang="en-US" sz="17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Spotify Music Streaming Service </a:t>
            </a:r>
            <a:endParaRPr lang="en-US" sz="1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Aft>
                <a:spcPts val="12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17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 recommendation system by predicting songs likely to become popular at the time of release. </a:t>
            </a:r>
            <a:endParaRPr lang="en-US" sz="1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Aft>
                <a:spcPts val="12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17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songs_utf.csv</a:t>
            </a:r>
            <a:endParaRPr lang="en-US" sz="1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Aft>
                <a:spcPts val="1200"/>
              </a:spcAft>
              <a:buNone/>
            </a:pPr>
            <a:r>
              <a:rPr lang="en-US" sz="17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Mainfocus</a:t>
            </a: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endParaRPr lang="en-US" sz="1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Predicting whether a song will be popular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Maximize monetary value based on prediction outcomes 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song characteristics like valence and genre impact success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F92E99-1A36-C623-22B6-34DE9FB4F4D9}"/>
              </a:ext>
            </a:extLst>
          </p:cNvPr>
          <p:cNvSpPr txBox="1">
            <a:spLocks/>
          </p:cNvSpPr>
          <p:nvPr/>
        </p:nvSpPr>
        <p:spPr>
          <a:xfrm>
            <a:off x="6108192" y="2112264"/>
            <a:ext cx="557479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Aft>
                <a:spcPts val="12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Qn 1: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if a songs popularity score exceeds 64</a:t>
            </a:r>
            <a:endParaRPr lang="en-US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Aft>
                <a:spcPts val="12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Qn 2: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model based on profit ( not just the accuracy) considering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spotify’s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revenues and costs. </a:t>
            </a:r>
            <a:endParaRPr lang="en-US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Qn 3: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how valence and genre affect song success and identify feature patterns to improve playlist recommendations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finger pressing a button on a phone&#10;&#10;AI-generated content may be incorrect.">
            <a:extLst>
              <a:ext uri="{FF2B5EF4-FFF2-40B4-BE49-F238E27FC236}">
                <a16:creationId xmlns:a16="http://schemas.microsoft.com/office/drawing/2014/main" id="{95AAA75D-9201-58C7-4296-82856328D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006" y="4568571"/>
            <a:ext cx="3262694" cy="217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440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DFDAF-D35A-8E50-583F-4C99F9860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45152" cy="191109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 dirty="0"/>
              <a:t>Question 1. Feature Selection and</a:t>
            </a:r>
            <a:br>
              <a:rPr lang="en-IN" sz="3700" dirty="0"/>
            </a:br>
            <a:r>
              <a:rPr lang="en-IN" sz="3700" dirty="0"/>
              <a:t>Data Preprocessing 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0F94F4B-6F7A-4270-95A8-469411C14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648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F2DC779-E3FC-3034-E329-F63FF9D15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71547" y="3428997"/>
            <a:ext cx="3343116" cy="243211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A0A1B10-F81F-139A-8E04-7B412CC2B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7337" y="4666650"/>
            <a:ext cx="4656180" cy="114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EA8885C-9346-9B20-478A-AD4BD2194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7337" y="3588329"/>
            <a:ext cx="4336297" cy="84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84B1C-0F3D-7E70-8F4B-D2298C363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934" y="982382"/>
            <a:ext cx="5989320" cy="5367528"/>
          </a:xfrm>
        </p:spPr>
        <p:txBody>
          <a:bodyPr>
            <a:normAutofit/>
          </a:bodyPr>
          <a:lstStyle/>
          <a:p>
            <a:pPr rtl="0">
              <a:lnSpc>
                <a:spcPct val="1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IN" sz="16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and Cleaning</a:t>
            </a:r>
            <a:endParaRPr lang="en-IN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Imported Spotify dataset (</a:t>
            </a:r>
            <a:r>
              <a:rPr lang="en-IN" sz="1600" b="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songs_utf.csv</a:t>
            </a:r>
            <a:r>
              <a:rPr lang="en-IN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from Google Drive.</a:t>
            </a:r>
          </a:p>
          <a:p>
            <a:pPr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Previewed initial rows, checked structure and missing values.</a:t>
            </a:r>
          </a:p>
          <a:p>
            <a:pPr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explicit feature to numeric (0 = No, 1 = Yes).</a:t>
            </a:r>
          </a:p>
          <a:p>
            <a:pPr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Dropped irrelevant text columns: artist, song, genre.</a:t>
            </a:r>
          </a:p>
          <a:p>
            <a:pPr rtl="0" fontAlgn="base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dataset: </a:t>
            </a:r>
            <a:r>
              <a:rPr lang="en-IN" sz="16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1,500 songs × 25 features</a:t>
            </a:r>
            <a:r>
              <a:rPr lang="en-IN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(fully cleaned).</a:t>
            </a:r>
            <a:br>
              <a:rPr lang="en-IN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 fontAlgn="base">
              <a:lnSpc>
                <a:spcPct val="100000"/>
              </a:lnSpc>
              <a:spcAft>
                <a:spcPts val="1200"/>
              </a:spcAft>
              <a:buNone/>
            </a:pPr>
            <a:r>
              <a:rPr lang="en-IN" sz="16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Creation</a:t>
            </a:r>
          </a:p>
          <a:p>
            <a:pPr marL="0" indent="0" rtl="0" fontAlgn="base">
              <a:lnSpc>
                <a:spcPct val="100000"/>
              </a:lnSpc>
              <a:spcAft>
                <a:spcPts val="1200"/>
              </a:spcAft>
              <a:buNone/>
            </a:pPr>
            <a:r>
              <a:rPr lang="en-IN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a new binary target:</a:t>
            </a:r>
          </a:p>
          <a:p>
            <a:pPr marL="742950" lvl="1" indent="-285750"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if </a:t>
            </a:r>
            <a:r>
              <a:rPr lang="en-IN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popularity ≥ 65</a:t>
            </a:r>
            <a:r>
              <a:rPr lang="en-I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(popular),</a:t>
            </a:r>
            <a:br>
              <a:rPr lang="en-I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rtl="0" fontAlgn="base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otherwise (non-popular).</a:t>
            </a:r>
          </a:p>
          <a:p>
            <a:pPr rtl="0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Verified target distribution: with Bar Chart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500" dirty="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8960BA39-6F3B-F625-841F-139CC7672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37" y="2717465"/>
            <a:ext cx="4772025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081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0" name="Rectangle 2079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AE594-F67A-44D8-445E-1A6A6F48A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100"/>
              <a:t>Exploratory Data Analysis and Data Preparation</a:t>
            </a:r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50444-BE89-2769-05B4-C80F170D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2033495"/>
            <a:ext cx="5132388" cy="3767328"/>
          </a:xfrm>
        </p:spPr>
        <p:txBody>
          <a:bodyPr>
            <a:normAutofit fontScale="25000" lnSpcReduction="20000"/>
          </a:bodyPr>
          <a:lstStyle/>
          <a:p>
            <a:pPr rtl="0">
              <a:lnSpc>
                <a:spcPct val="1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64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Analysis</a:t>
            </a:r>
            <a:endParaRPr lang="en-US" sz="6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6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</a:t>
            </a:r>
            <a:r>
              <a:rPr lang="en-US" sz="64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</a:t>
            </a:r>
            <a:r>
              <a:rPr lang="en-US" sz="6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(mean, median, range) for numerical features.</a:t>
            </a:r>
          </a:p>
          <a:p>
            <a:pPr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6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Plotted a </a:t>
            </a:r>
            <a:r>
              <a:rPr lang="en-US" sz="64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</a:t>
            </a:r>
            <a:r>
              <a:rPr lang="en-US" sz="6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study feature relationships:</a:t>
            </a:r>
          </a:p>
          <a:p>
            <a:pPr rtl="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6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strong multicollinearity found.</a:t>
            </a:r>
            <a:br>
              <a:rPr lang="en-US" sz="6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6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4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64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Preparation</a:t>
            </a:r>
            <a:endParaRPr lang="en-US" sz="6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6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Saved cleaned dataset to new CSV file for modeling.</a:t>
            </a:r>
          </a:p>
          <a:p>
            <a:pPr rtl="0" fontAlgn="base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6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fully ready for model training and evaluation.</a:t>
            </a:r>
          </a:p>
          <a:p>
            <a:pPr rtl="0">
              <a:lnSpc>
                <a:spcPct val="1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64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  <a:endParaRPr lang="en-US" sz="6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6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Careful preprocessing ensured high-quality, consistent, and relevant input for predictive modeling.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900" dirty="0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B34BD5C0-CC3B-B610-EA32-2581F8F99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522" y="978408"/>
            <a:ext cx="4198333" cy="418671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CE15213D-9A85-B0C3-DC6E-1760DF0DE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118" y="1162669"/>
            <a:ext cx="2524571" cy="333150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F7F169C2-ACE2-8634-D2CA-8B2C3A73A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014" y="5181698"/>
            <a:ext cx="616267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6059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8BAA160-18A6-38AE-4699-2AD01EF53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01256-BDDF-C421-2C65-0DC25D3E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 1. Introduction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0" name="TextBox 31">
            <a:extLst>
              <a:ext uri="{FF2B5EF4-FFF2-40B4-BE49-F238E27FC236}">
                <a16:creationId xmlns:a16="http://schemas.microsoft.com/office/drawing/2014/main" id="{FC503DDC-97CB-8420-0669-BB6298374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699719"/>
              </p:ext>
            </p:extLst>
          </p:nvPr>
        </p:nvGraphicFramePr>
        <p:xfrm>
          <a:off x="442879" y="2112454"/>
          <a:ext cx="11473504" cy="4064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5766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6070-657B-FE17-17B9-6AB57962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933" y="656497"/>
            <a:ext cx="11155680" cy="1463040"/>
          </a:xfrm>
        </p:spPr>
        <p:txBody>
          <a:bodyPr/>
          <a:lstStyle/>
          <a:p>
            <a:r>
              <a:rPr lang="en-IN" dirty="0"/>
              <a:t>KNN Classifier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78412-454F-99CF-711F-EEB45825E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933" y="1388017"/>
            <a:ext cx="6799230" cy="3767328"/>
          </a:xfrm>
        </p:spPr>
        <p:txBody>
          <a:bodyPr>
            <a:noAutofit/>
          </a:bodyPr>
          <a:lstStyle/>
          <a:p>
            <a:pPr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Method: K-Nearest Neighbors (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NN) Classifier</a:t>
            </a:r>
            <a:endParaRPr lang="en-US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features.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Explored different K values for optimal performance.</a:t>
            </a: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endParaRPr lang="en-US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Holdout/Test Accuracy: (KNN accuracy, 75.8% training, 58.6% test)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Accuracy: (similar to test accuracy but slightly lower at 56.2% test accuracy)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 Hyperparameter Accuracy: (no significant difference with test accuracy at 57.8%)</a:t>
            </a:r>
          </a:p>
          <a:p>
            <a:pPr marL="0" indent="0" rtl="0" fontAlgn="base">
              <a:spcAft>
                <a:spcPts val="12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US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 struggled to identify the variance needed to classify songs as popular. Model reliance on comparing similarities makes it sensitive to noise, normalizing features, and class imbalance.</a:t>
            </a:r>
          </a:p>
          <a:p>
            <a:pPr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complex, multi-factor datasets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this,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 was not the best modeling approach.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61E3F980-BA38-C2AF-643F-2A9202666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438" y="862107"/>
            <a:ext cx="4405963" cy="32497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39F1F057-B15F-495C-EEC7-61116C544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391" y="4314790"/>
            <a:ext cx="2168024" cy="16174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65D04FFF-F961-A013-48A0-F0EDE9CD3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897" y="4374642"/>
            <a:ext cx="2714625" cy="1504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2748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4C87-3851-1D1F-4310-9795E49C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Tree Classifier Results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CAA555C-8851-9CF2-030A-AE32DB4194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755" y="1880515"/>
            <a:ext cx="6032524" cy="239925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FAB34D2-75C5-11D9-4E6B-A2E5B0175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888" y="4501986"/>
            <a:ext cx="5715000" cy="21526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401410-E742-E550-FF80-C8C7D737040F}"/>
              </a:ext>
            </a:extLst>
          </p:cNvPr>
          <p:cNvSpPr txBox="1"/>
          <p:nvPr/>
        </p:nvSpPr>
        <p:spPr>
          <a:xfrm>
            <a:off x="515112" y="1817555"/>
            <a:ext cx="4938034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200"/>
              </a:spcAft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Decision Tree Classifier.</a:t>
            </a:r>
            <a:endParaRPr lang="en-IN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Aft>
                <a:spcPts val="1200"/>
              </a:spcAft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initial tree, pruned using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(tuned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rtl="0"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Holdout/Test Accuracy: 56%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Accuracy: 52.1% 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Fine-Tuned Accuracy: 54.9%</a:t>
            </a:r>
          </a:p>
          <a:p>
            <a:pPr rtl="0"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interpretation, but model performance was not robust.</a:t>
            </a:r>
          </a:p>
          <a:p>
            <a:pPr rtl="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overfitting risk due to overlapping features (danceability), shown by the large gap between training and test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32668114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66DF-84D6-A094-CFF9-9F29791D3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87908"/>
            <a:ext cx="11155680" cy="1463040"/>
          </a:xfrm>
        </p:spPr>
        <p:txBody>
          <a:bodyPr/>
          <a:lstStyle/>
          <a:p>
            <a:r>
              <a:rPr lang="en-IN" dirty="0"/>
              <a:t>Logistic Regression -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24E4E-DFDC-961F-E32B-31E14C128566}"/>
              </a:ext>
            </a:extLst>
          </p:cNvPr>
          <p:cNvSpPr txBox="1"/>
          <p:nvPr/>
        </p:nvSpPr>
        <p:spPr>
          <a:xfrm>
            <a:off x="586820" y="1973879"/>
            <a:ext cx="405116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200"/>
              </a:spcAft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Logistic Regression Classifier.</a:t>
            </a:r>
            <a:endParaRPr lang="en-IN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Aft>
                <a:spcPts val="1200"/>
              </a:spcAft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features after removing multicollinearity using VIF.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features.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10-Fold Cross-Validation performed.</a:t>
            </a:r>
          </a:p>
          <a:p>
            <a:pPr rtl="0"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Holdout/Test Accuracy: 58%-59%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Accuracy: ~59.8%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~59%, F1 Score: ~54%</a:t>
            </a:r>
          </a:p>
          <a:p>
            <a:pPr rtl="0"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balance between precision and recall.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generalizes well compared to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Decision Tree with overfitting issues.</a:t>
            </a:r>
          </a:p>
          <a:p>
            <a:pPr>
              <a:buNone/>
            </a:pPr>
            <a:br>
              <a:rPr lang="en-IN" b="0" dirty="0">
                <a:effectLst/>
              </a:rPr>
            </a:b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C7FC8E6-79F6-1350-9A43-509CE2461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352" y="1973879"/>
            <a:ext cx="2742121" cy="344741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3C226F6E-6E00-F619-4185-95CDF0A16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398" y="1593903"/>
            <a:ext cx="4765002" cy="511169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1249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E3D9C-7190-8099-C469-F6EE3ED7A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and Final 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77377907-C03F-88FB-F366-A1ED6AE06C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959693"/>
              </p:ext>
            </p:extLst>
          </p:nvPr>
        </p:nvGraphicFramePr>
        <p:xfrm>
          <a:off x="4932045" y="985266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4817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1F32F-5146-EFDC-89C9-6F8DDD46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Question 2. Cost Benefit Analysis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FF474D16-1D63-BD36-7E37-4A2F529C8F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9251710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8472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5" name="Freeform: Shape 616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66" name="Freeform: Shape 6165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167" name="Rectangle 6166">
            <a:extLst>
              <a:ext uri="{FF2B5EF4-FFF2-40B4-BE49-F238E27FC236}">
                <a16:creationId xmlns:a16="http://schemas.microsoft.com/office/drawing/2014/main" id="{DD1980C8-FD80-43D8-9D6A-0262A4D53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7C7396-F3C6-D99B-A5A1-F773EB733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872" y="275487"/>
            <a:ext cx="10343207" cy="13031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700" dirty="0"/>
              <a:t>Question 2. Revenue Cost Structure </a:t>
            </a:r>
          </a:p>
        </p:txBody>
      </p:sp>
      <p:sp>
        <p:nvSpPr>
          <p:cNvPr id="6168" name="Freeform: Shape 6167">
            <a:extLst>
              <a:ext uri="{FF2B5EF4-FFF2-40B4-BE49-F238E27FC236}">
                <a16:creationId xmlns:a16="http://schemas.microsoft.com/office/drawing/2014/main" id="{F0B946FF-6DDE-6D1D-AB2C-CEC5B601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50" name="Picture 6" descr="A blue squares with numbers&#10;&#10;AI-generated content may be incorrect.">
            <a:extLst>
              <a:ext uri="{FF2B5EF4-FFF2-40B4-BE49-F238E27FC236}">
                <a16:creationId xmlns:a16="http://schemas.microsoft.com/office/drawing/2014/main" id="{0A0D8526-22BE-4746-3438-E8C5BF2D1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9213" y="1867556"/>
            <a:ext cx="2994466" cy="264261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A blue squares with numbers&#10;&#10;AI-generated content may be incorrect.">
            <a:extLst>
              <a:ext uri="{FF2B5EF4-FFF2-40B4-BE49-F238E27FC236}">
                <a16:creationId xmlns:a16="http://schemas.microsoft.com/office/drawing/2014/main" id="{07B8F244-BD6D-A662-9294-4383B44C3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67837" y="1867556"/>
            <a:ext cx="3203170" cy="264261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211BDD41-EAB0-460D-8434-D6E81E38F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95165" y="1880586"/>
            <a:ext cx="3547872" cy="26165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31D043-0C7C-4D59-9D7A-4D3378FFDE3E}"/>
              </a:ext>
            </a:extLst>
          </p:cNvPr>
          <p:cNvSpPr txBox="1"/>
          <p:nvPr/>
        </p:nvSpPr>
        <p:spPr>
          <a:xfrm>
            <a:off x="7865953" y="4612689"/>
            <a:ext cx="4240322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 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the confusion matrix: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 = 100, FP = 59, FN = 128, TN = 163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Value = (100 × 1000) + (59 × -700) + (123 × -900) = 100,000 – 41,300 – 1,10,700 = </a:t>
            </a:r>
            <a:r>
              <a:rPr lang="en-IN" sz="14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–$52,000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EB71C-5597-8FE9-072D-88AEBAA5682E}"/>
              </a:ext>
            </a:extLst>
          </p:cNvPr>
          <p:cNvSpPr txBox="1"/>
          <p:nvPr/>
        </p:nvSpPr>
        <p:spPr>
          <a:xfrm>
            <a:off x="534948" y="4612689"/>
            <a:ext cx="354787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the confusion matrix: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 = 123, FP = 81, FN = 105, TN = 141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Value = (123 × 1000) + (81  × -700) + (105 ×-900) = 123,000 – 56,700 – 94,500</a:t>
            </a: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0" i="0" u="none" strike="noStrike" dirty="0">
                <a:solidFill>
                  <a:srgbClr val="1F1F1F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1400" b="1" i="0" u="none" strike="noStrike" dirty="0">
                <a:solidFill>
                  <a:srgbClr val="1F1F1F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–$28,200</a:t>
            </a:r>
            <a:endParaRPr lang="en-IN" sz="1400" b="0" dirty="0">
              <a:effectLst/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61DDF-F810-5408-1F66-7F644E802C2B}"/>
              </a:ext>
            </a:extLst>
          </p:cNvPr>
          <p:cNvSpPr txBox="1"/>
          <p:nvPr/>
        </p:nvSpPr>
        <p:spPr>
          <a:xfrm>
            <a:off x="4222589" y="4612689"/>
            <a:ext cx="3503594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 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the confusion matrix: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 = 124, FP = 99, FN = 104, TN = 123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1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Value = (124 × 1000) + (99 × -700) + (104 × -900) = 124,000 – 69,300 – 93,600 = </a:t>
            </a:r>
            <a:r>
              <a:rPr lang="en-IN" sz="14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–$38,900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716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879E-BA39-6022-9C9F-1A9716DB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36" y="653434"/>
            <a:ext cx="12219813" cy="1463040"/>
          </a:xfrm>
        </p:spPr>
        <p:txBody>
          <a:bodyPr/>
          <a:lstStyle/>
          <a:p>
            <a:r>
              <a:rPr lang="en-IN" dirty="0"/>
              <a:t>Question 3. Introduction – 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2A11A-03C1-DE49-CB6B-474EAC2A3A82}"/>
              </a:ext>
            </a:extLst>
          </p:cNvPr>
          <p:cNvSpPr txBox="1"/>
          <p:nvPr/>
        </p:nvSpPr>
        <p:spPr>
          <a:xfrm>
            <a:off x="457961" y="1384954"/>
            <a:ext cx="110387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US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  the impact of a song’s valence (musical positivity) on its success across different types of music.</a:t>
            </a:r>
            <a:b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features or combinations of features frequently associated with high or low popularity to improve playlist recommendations.</a:t>
            </a: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endParaRPr lang="en-US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Spotify song attributes including danceability, energy, genre indicators (pop, rock,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hiphop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dance, folk,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rnb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latin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valence, and more.</a:t>
            </a: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→ Popular (1) vs Not Popular (0) based on a popularity score ≥ 65.</a:t>
            </a:r>
          </a:p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endParaRPr lang="en-US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Applying  K-Means Clustering using danceability, energy, and optional genre attributes.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each cluster, analyze characteristics and model the impact of valence on success using Logistic Regression.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features linked to higher or lower popularity.</a:t>
            </a: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Providing insights to enhance playlist recommendations based on feature patterns.</a:t>
            </a:r>
          </a:p>
          <a:p>
            <a:pPr>
              <a:buNone/>
            </a:pPr>
            <a:br>
              <a:rPr lang="en-US" sz="1400" b="0" dirty="0">
                <a:effectLst/>
              </a:rPr>
            </a:b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416462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9" name="Rectangle 10248">
            <a:extLst>
              <a:ext uri="{FF2B5EF4-FFF2-40B4-BE49-F238E27FC236}">
                <a16:creationId xmlns:a16="http://schemas.microsoft.com/office/drawing/2014/main" id="{2CD0D193-B981-FE7D-7D46-D739C7E5B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A1988-2A36-9AAE-D575-CAA44E016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424" y="978408"/>
            <a:ext cx="713232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 Means Clustering and Valence Impact Analysis</a:t>
            </a:r>
          </a:p>
        </p:txBody>
      </p:sp>
      <p:pic>
        <p:nvPicPr>
          <p:cNvPr id="10242" name="Picture 2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D6BBA536-C69F-7CE2-3472-E99914016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06" b="4"/>
          <a:stretch/>
        </p:blipFill>
        <p:spPr bwMode="auto">
          <a:xfrm>
            <a:off x="517870" y="508090"/>
            <a:ext cx="3281773" cy="277977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14435763-D116-E6B0-3992-6801EF0F0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1230" y="508090"/>
            <a:ext cx="71323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4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515AAE87-84BF-F205-5403-84B30EFD7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83" b="1"/>
          <a:stretch/>
        </p:blipFill>
        <p:spPr bwMode="auto">
          <a:xfrm>
            <a:off x="517870" y="3566160"/>
            <a:ext cx="3281773" cy="277977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3ECA22-51EC-173C-65BC-852C08D3CB10}"/>
              </a:ext>
            </a:extLst>
          </p:cNvPr>
          <p:cNvSpPr txBox="1"/>
          <p:nvPr/>
        </p:nvSpPr>
        <p:spPr>
          <a:xfrm>
            <a:off x="4535424" y="2578608"/>
            <a:ext cx="713232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Selected: Danceability, Energy, Pop, Rock, </a:t>
            </a:r>
            <a:r>
              <a:rPr lang="en-US" sz="17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Hiphop</a:t>
            </a: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Dance, Folk, RnB, Latin.</a:t>
            </a: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Normalized data using </a:t>
            </a:r>
            <a:r>
              <a:rPr lang="en-US" sz="17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K-Means clustering, optimal k=4 chosen using Elbow Method.</a:t>
            </a:r>
            <a:b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7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7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Clusters Analysis</a:t>
            </a: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2860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Songs grouped into four distinct clusters with varying danceability and energy.</a:t>
            </a: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7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Valence Analysis:</a:t>
            </a:r>
            <a:endParaRPr lang="en-US" sz="17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2860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Songs grouped into four distinct clusters with varying danceability and energy. </a:t>
            </a: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7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Importance:</a:t>
            </a:r>
            <a:endParaRPr lang="en-US" sz="17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2860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 songs have higher energy, tempo, loudness, and positivity.</a:t>
            </a:r>
          </a:p>
        </p:txBody>
      </p:sp>
    </p:spTree>
    <p:extLst>
      <p:ext uri="{BB962C8B-B14F-4D97-AF65-F5344CB8AC3E}">
        <p14:creationId xmlns:p14="http://schemas.microsoft.com/office/powerpoint/2010/main" val="34655640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FE3A0-F24D-FCAF-A0A3-9C946336F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Insights from Clustering Analysis</a:t>
            </a:r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0DA234B-EAC3-352B-791C-1557CEEDD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945875"/>
            <a:ext cx="6281928" cy="237142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B127A4-EB27-C557-DA0B-6D2320A5EA70}"/>
              </a:ext>
            </a:extLst>
          </p:cNvPr>
          <p:cNvSpPr txBox="1"/>
          <p:nvPr/>
        </p:nvSpPr>
        <p:spPr>
          <a:xfrm>
            <a:off x="7513612" y="1600200"/>
            <a:ext cx="416052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Clusters show that song success patterns differ based on musical characteristics.</a:t>
            </a: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Valence has a stronger positive impact in clusters with high danceability and energy.</a:t>
            </a:r>
          </a:p>
          <a:p>
            <a:pPr indent="-22860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like loudness, tempo, and energy are strongly associated with popularity.</a:t>
            </a:r>
          </a:p>
          <a:p>
            <a:pPr indent="-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for Spotify</a:t>
            </a: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songs with high energy, positive valence for general playlists.</a:t>
            </a:r>
          </a:p>
          <a:p>
            <a:pPr indent="-22860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Customize playlists based on cluster profiles for different audience preferences.</a:t>
            </a:r>
          </a:p>
          <a:p>
            <a:br>
              <a:rPr lang="en-US" sz="1700" b="0" dirty="0">
                <a:effectLst/>
              </a:rPr>
            </a:b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0929254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49257-D34C-5688-6653-95A865E9E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Appearance – Association Rule</a:t>
            </a:r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E9821CA-CE7B-0773-F71A-09CF4C76D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429691"/>
            <a:ext cx="5221750" cy="391631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B4C6D5-4040-C383-FC41-73B5FE62A6FF}"/>
              </a:ext>
            </a:extLst>
          </p:cNvPr>
          <p:cNvSpPr txBox="1"/>
          <p:nvPr/>
        </p:nvSpPr>
        <p:spPr>
          <a:xfrm>
            <a:off x="7342632" y="1269019"/>
            <a:ext cx="416052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 Songs (popularity ≥ 65):</a:t>
            </a:r>
            <a:endParaRPr lang="en-US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 Genre (19_1)</a:t>
            </a: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Lyrics (4_FALSE)</a:t>
            </a: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Mode (Happy Sound) (11_1)</a:t>
            </a: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Genre Blending: </a:t>
            </a:r>
            <a:r>
              <a:rPr lang="en-US" sz="16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 + Hip Hop + Latin</a:t>
            </a:r>
            <a:endParaRPr lang="en-US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Artist Examples: </a:t>
            </a:r>
            <a:r>
              <a:rPr lang="en-US" sz="16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Coldplay (Rock-Pop), David Guetta (Pop-Dance)</a:t>
            </a:r>
            <a:endParaRPr lang="en-US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Unpopular Songs (popularity ≤ 20):</a:t>
            </a:r>
            <a:endParaRPr lang="en-US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 Genre still common, but with failure</a:t>
            </a: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Lyrics present but insufficient</a:t>
            </a: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Mode songs can also flop</a:t>
            </a:r>
          </a:p>
          <a:p>
            <a:pPr indent="-22860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Isolated Dance/Electronic genre without strong branding</a:t>
            </a:r>
          </a:p>
          <a:p>
            <a:br>
              <a:rPr lang="en-US" sz="1700" b="0" dirty="0">
                <a:effectLst/>
              </a:rPr>
            </a:b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0221295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5FEA-1096-E3AE-505B-ADB5C58F6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58" y="683133"/>
            <a:ext cx="11155680" cy="1463040"/>
          </a:xfrm>
        </p:spPr>
        <p:txBody>
          <a:bodyPr/>
          <a:lstStyle/>
          <a:p>
            <a:r>
              <a:rPr lang="en-IN" dirty="0"/>
              <a:t>Suggestion to Improve Recommendation Playlist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C89C4-6F8B-8DB5-48AC-2727E0AD3135}"/>
              </a:ext>
            </a:extLst>
          </p:cNvPr>
          <p:cNvSpPr txBox="1"/>
          <p:nvPr/>
        </p:nvSpPr>
        <p:spPr>
          <a:xfrm>
            <a:off x="425958" y="2289048"/>
            <a:ext cx="580748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2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Coldplay → Rock + Pop + Clean lyrics</a:t>
            </a:r>
            <a:endParaRPr lang="en-US" sz="16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David Guetta → Pop + Hip Hop + Dance/Electronic</a:t>
            </a:r>
            <a:endParaRPr lang="en-US" sz="16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Coldplay's songs are closely associated with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rock + pop genres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clean (non-explicit)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content.</a:t>
            </a:r>
            <a:endParaRPr lang="en-US" sz="16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Songs labeled as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rock + pop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can be reliably recommended to Coldplay fans — their listening taste heavily matches that style.</a:t>
            </a:r>
            <a:endParaRPr lang="en-US" sz="16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David Guetta's music is linked more to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hip hop, pop, and dance/electronic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— a different cluster appealing to dance fans.</a:t>
            </a:r>
            <a:endParaRPr lang="en-US" sz="1600" b="0" dirty="0">
              <a:effectLst/>
            </a:endParaRPr>
          </a:p>
          <a:p>
            <a:pPr>
              <a:buNone/>
            </a:pPr>
            <a:br>
              <a:rPr lang="en-US" sz="1400" b="0" dirty="0">
                <a:effectLst/>
              </a:rPr>
            </a:b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8DBD1E-43A2-BFE1-4D89-B9EB7B16CD5E}"/>
              </a:ext>
            </a:extLst>
          </p:cNvPr>
          <p:cNvSpPr txBox="1"/>
          <p:nvPr/>
        </p:nvSpPr>
        <p:spPr>
          <a:xfrm>
            <a:off x="425958" y="5459146"/>
            <a:ext cx="79819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1" i="0" u="none" strike="noStrike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Association analysis shows that Coldplay songs strongly cluster around rock-pop genres with clean lyrics, while David Guetta's tracks blend pop, hip hop, and dance/electronic elements — guiding genre-focused and artist-personalized recommendations.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A249662-3E73-9D7C-D367-BFE7F8C14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446" y="2025547"/>
            <a:ext cx="5838710" cy="246805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184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9ABC6-D075-1AD0-65BF-C4D647B23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Strategic Recommendations </a:t>
            </a:r>
            <a:b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 Spotify: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white lines on a black background&#10;&#10;AI-generated content may be incorrect.">
            <a:extLst>
              <a:ext uri="{FF2B5EF4-FFF2-40B4-BE49-F238E27FC236}">
                <a16:creationId xmlns:a16="http://schemas.microsoft.com/office/drawing/2014/main" id="{BE342E05-B6AF-5CEB-26D6-5D189D77F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71" y="3951239"/>
            <a:ext cx="5112393" cy="1278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2EB8B-59CB-5BF7-630A-7191E871A74F}"/>
              </a:ext>
            </a:extLst>
          </p:cNvPr>
          <p:cNvSpPr txBox="1"/>
          <p:nvPr/>
        </p:nvSpPr>
        <p:spPr>
          <a:xfrm>
            <a:off x="6163056" y="978408"/>
            <a:ext cx="5504688" cy="536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1" i="0" u="none" strike="noStrike">
                <a:effectLst/>
              </a:rPr>
              <a:t>Use Logistic Regression</a:t>
            </a:r>
            <a:r>
              <a:rPr lang="en-US" sz="1400" b="0" i="0" u="none" strike="noStrike">
                <a:effectLst/>
              </a:rPr>
              <a:t> for clean, interpretable popularity prediction.</a:t>
            </a:r>
            <a:br>
              <a:rPr lang="en-US" sz="1400" b="0" i="0" u="none" strike="noStrike">
                <a:effectLst/>
              </a:rPr>
            </a:br>
            <a:r>
              <a:rPr lang="en-US" sz="1400" b="0" i="0" u="none" strike="noStrike">
                <a:effectLst/>
              </a:rPr>
              <a:t>→ Focus on features like clean lyrics, major key, and genre blending.</a:t>
            </a:r>
            <a:br>
              <a:rPr lang="en-US" sz="1400" b="0" i="0" u="none" strike="noStrike">
                <a:effectLst/>
              </a:rPr>
            </a:br>
            <a:endParaRPr lang="en-US" sz="1400" b="0" i="0" u="none" strike="noStrike">
              <a:effectLst/>
            </a:endParaRP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400" b="1" i="0" u="none" strike="noStrike">
                <a:effectLst/>
              </a:rPr>
              <a:t>Apply KNN</a:t>
            </a:r>
            <a:r>
              <a:rPr lang="en-US" sz="1400" b="0" i="0" u="none" strike="noStrike">
                <a:effectLst/>
              </a:rPr>
              <a:t> when profit is the priority.</a:t>
            </a:r>
            <a:br>
              <a:rPr lang="en-US" sz="1400" b="0" i="0" u="none" strike="noStrike">
                <a:effectLst/>
              </a:rPr>
            </a:br>
            <a:r>
              <a:rPr lang="en-US" sz="1400" b="0" i="0" u="none" strike="noStrike">
                <a:effectLst/>
              </a:rPr>
              <a:t>→ Balances true hits with cost of misclassification.</a:t>
            </a:r>
            <a:br>
              <a:rPr lang="en-US" sz="1400" b="0" i="0" u="none" strike="noStrike">
                <a:effectLst/>
              </a:rPr>
            </a:br>
            <a:endParaRPr lang="en-US" sz="1400" b="0" i="0" u="none" strike="noStrike">
              <a:effectLst/>
            </a:endParaRP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400" b="1" i="0" u="none" strike="noStrike">
                <a:effectLst/>
              </a:rPr>
              <a:t>Curate playlists by mood and energy clusters.</a:t>
            </a:r>
            <a:br>
              <a:rPr lang="en-US" sz="1400" b="1" i="0" u="none" strike="noStrike">
                <a:effectLst/>
              </a:rPr>
            </a:br>
            <a:r>
              <a:rPr lang="en-US" sz="1400" b="0" i="0" u="none" strike="noStrike">
                <a:effectLst/>
              </a:rPr>
              <a:t>→ High valence + high energy songs are more popular.</a:t>
            </a:r>
            <a:br>
              <a:rPr lang="en-US" sz="1400" b="0" i="0" u="none" strike="noStrike">
                <a:effectLst/>
              </a:rPr>
            </a:br>
            <a:endParaRPr lang="en-US" sz="1400" b="0" i="0" u="none" strike="noStrike">
              <a:effectLst/>
            </a:endParaRPr>
          </a:p>
          <a:p>
            <a:pPr indent="-228600" fontAlgn="base">
              <a:buFont typeface="Arial" panose="020B0604020202020204" pitchFamily="34" charset="0"/>
              <a:buChar char="•"/>
            </a:pPr>
            <a:r>
              <a:rPr lang="en-US" sz="1400" b="1" i="0" u="none" strike="noStrike">
                <a:effectLst/>
              </a:rPr>
              <a:t>Promote genre-blended tracks and artist–genre combos.</a:t>
            </a:r>
            <a:br>
              <a:rPr lang="en-US" sz="1400" b="1" i="0" u="none" strike="noStrike">
                <a:effectLst/>
              </a:rPr>
            </a:br>
            <a:r>
              <a:rPr lang="en-US" sz="1400" b="0" i="0" u="none" strike="noStrike">
                <a:effectLst/>
              </a:rPr>
              <a:t>→ Examples: Pop + Hip Hop + Latin (David Guetta), Rock + Pop (Coldplay).</a:t>
            </a:r>
            <a:br>
              <a:rPr lang="en-US" sz="1400" b="0" i="0" u="none" strike="noStrike">
                <a:effectLst/>
              </a:rPr>
            </a:br>
            <a:endParaRPr lang="en-US" sz="1400" b="0" i="0" u="none" strike="noStrike">
              <a:effectLst/>
            </a:endParaRPr>
          </a:p>
          <a:p>
            <a:pPr indent="-22860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>
                <a:effectLst/>
              </a:rPr>
              <a:t>Prioritize clean, upbeat, multi-genre songs.</a:t>
            </a:r>
            <a:br>
              <a:rPr lang="en-US" sz="1400" b="1" i="0" u="none" strike="noStrike">
                <a:effectLst/>
              </a:rPr>
            </a:br>
            <a:r>
              <a:rPr lang="en-US" sz="1400" b="0" i="0" u="none" strike="noStrike">
                <a:effectLst/>
              </a:rPr>
              <a:t>→ Broader reach and higher success rate.</a:t>
            </a:r>
            <a:br>
              <a:rPr lang="en-US" sz="1400" b="0" i="0" u="none" strike="noStrike">
                <a:effectLst/>
              </a:rPr>
            </a:br>
            <a:br>
              <a:rPr lang="en-US" sz="1400" b="0" i="0" u="none" strike="noStrike">
                <a:effectLst/>
              </a:rPr>
            </a:br>
            <a:r>
              <a:rPr lang="en-US" sz="1400" b="1" i="0" u="none" strike="noStrike">
                <a:effectLst/>
              </a:rPr>
              <a:t>Business Impact</a:t>
            </a:r>
            <a:endParaRPr lang="en-US" sz="1400" b="0">
              <a:effectLst/>
            </a:endParaRPr>
          </a:p>
          <a:p>
            <a:pPr indent="-22860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effectLst/>
              </a:rPr>
              <a:t>Data-driven recommendations can </a:t>
            </a:r>
            <a:r>
              <a:rPr lang="en-US" sz="1400" b="1" i="0" u="none" strike="noStrike">
                <a:effectLst/>
              </a:rPr>
              <a:t>increase user engagement</a:t>
            </a:r>
            <a:r>
              <a:rPr lang="en-US" sz="1400" b="0" i="0" u="none" strike="noStrike">
                <a:effectLst/>
              </a:rPr>
              <a:t>, improve playlist quality, and </a:t>
            </a:r>
            <a:r>
              <a:rPr lang="en-US" sz="1400" b="1" i="0" u="none" strike="noStrike">
                <a:effectLst/>
              </a:rPr>
              <a:t>maximize streaming revenue</a:t>
            </a:r>
            <a:r>
              <a:rPr lang="en-US" sz="1400" b="0" i="0" u="none" strike="noStrike">
                <a:effectLst/>
              </a:rPr>
              <a:t>.</a:t>
            </a:r>
          </a:p>
          <a:p>
            <a:pPr indent="-22860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effectLst/>
              </a:rPr>
              <a:t>Combining predictive modeling with association insights enables </a:t>
            </a:r>
            <a:r>
              <a:rPr lang="en-US" sz="1400" b="1" i="0" u="none" strike="noStrike">
                <a:effectLst/>
              </a:rPr>
              <a:t>smarter, customized playlist strategies</a:t>
            </a:r>
            <a:r>
              <a:rPr lang="en-US" sz="1400" b="0" i="0" u="none" strike="noStrike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8857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white tablet and a cup of coffee&#10;&#10;AI-generated content may be incorrect.">
            <a:extLst>
              <a:ext uri="{FF2B5EF4-FFF2-40B4-BE49-F238E27FC236}">
                <a16:creationId xmlns:a16="http://schemas.microsoft.com/office/drawing/2014/main" id="{966FF632-F850-5C33-837C-90E337436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391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7B3E2DB-180D-4752-BBB6-987822D6B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62400-CFD2-7983-1E7E-6B141A3A5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052" y="971396"/>
            <a:ext cx="5870184" cy="28595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9321" y="508090"/>
            <a:ext cx="611481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12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1758</Words>
  <Application>Microsoft Office PowerPoint</Application>
  <PresentationFormat>Widescreen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Bierstadt</vt:lpstr>
      <vt:lpstr>Times New Roman</vt:lpstr>
      <vt:lpstr>GestaltVTI</vt:lpstr>
      <vt:lpstr>SPOTIFY SONG POPULARITY PREDICTION AND RECOMMENDATION OPTIMIZATION      INFO 648 – BUSINESS DATA ANALYTICS         Group 2: Aakash Kathirvel Chandhini Kerachan Muraleedharan Matt Ferguson Milan Chaudhari    </vt:lpstr>
      <vt:lpstr>Introduction and Objectives </vt:lpstr>
      <vt:lpstr>Question 1. Feature Selection and Data Preprocessing </vt:lpstr>
      <vt:lpstr>Exploratory Data Analysis and Data Preparation</vt:lpstr>
      <vt:lpstr>Question 1. Introduction </vt:lpstr>
      <vt:lpstr>KNN Classifier - Results</vt:lpstr>
      <vt:lpstr>Decision Tree Classifier Results</vt:lpstr>
      <vt:lpstr>Logistic Regression - Results</vt:lpstr>
      <vt:lpstr>Comparison and Final Conclusion</vt:lpstr>
      <vt:lpstr>Question 2. Cost Benefit Analysis</vt:lpstr>
      <vt:lpstr>Question 2. Revenue Cost Structure </vt:lpstr>
      <vt:lpstr>Question 3. Introduction – Problem Statement</vt:lpstr>
      <vt:lpstr>K Means Clustering and Valence Impact Analysis</vt:lpstr>
      <vt:lpstr>Key Insights from Clustering Analysis</vt:lpstr>
      <vt:lpstr>Feature Appearance – Association Rule</vt:lpstr>
      <vt:lpstr>Suggestion to Improve Recommendation Playlist</vt:lpstr>
      <vt:lpstr>Strategic Recommendations  for Spotify: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Chandhini Kerachan Muraleedharan</dc:creator>
  <cp:lastModifiedBy>Chandhini Kerachan Muraleedharan</cp:lastModifiedBy>
  <cp:revision>2</cp:revision>
  <dcterms:created xsi:type="dcterms:W3CDTF">2025-04-29T19:14:35Z</dcterms:created>
  <dcterms:modified xsi:type="dcterms:W3CDTF">2026-01-19T02:21:17Z</dcterms:modified>
</cp:coreProperties>
</file>